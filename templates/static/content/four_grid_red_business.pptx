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</a:defRPr>
            </a:pPr>
            <a:r>
              <a:t>核心要点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657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  <p:spPr>
          <a:effectLst>
            <a:outerShdw blurRad="76200" dist="25400" dir="5400000" algn="tl">
              <a:srgbClr val="000000">
                <a:alpha val="12000"/>
              </a:srgbClr>
            </a:outerShdw>
          </a:effectLst>
        </p:spPr>
      </p:sp>
      <p:sp>
        <p:nvSpPr>
          <p:cNvPr id="5" name="Rectangle 4"/>
          <p:cNvSpPr/>
          <p:nvPr/>
        </p:nvSpPr>
        <p:spPr>
          <a:xfrm>
            <a:off x="731520" y="1417320"/>
            <a:ext cx="54864" cy="21031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554480"/>
            <a:ext cx="548640" cy="548640"/>
          </a:xfrm>
          <a:prstGeom prst="ellipse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6002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196F3"/>
                </a:solidFill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5544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12121"/>
                </a:solidFill>
              </a:defRPr>
            </a:pPr>
            <a:r>
              <a:t>市场分析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行业规模、增速与竞争格局的系统性梳理。</a:t>
            </a:r>
          </a:p>
        </p:txBody>
      </p:sp>
      <p:sp>
        <p:nvSpPr>
          <p:cNvPr id="10" name="Oval 9"/>
          <p:cNvSpPr/>
          <p:nvPr/>
        </p:nvSpPr>
        <p:spPr>
          <a:xfrm>
            <a:off x="3657600" y="2926080"/>
            <a:ext cx="548640" cy="548640"/>
          </a:xfrm>
          <a:prstGeom prst="ellipse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1280160"/>
            <a:ext cx="3657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  <p:spPr>
          <a:effectLst>
            <a:outerShdw blurRad="76200" dist="25400" dir="5400000" algn="tl">
              <a:srgbClr val="000000">
                <a:alpha val="12000"/>
              </a:srgbClr>
            </a:outerShdw>
          </a:effectLst>
        </p:spPr>
      </p:sp>
      <p:sp>
        <p:nvSpPr>
          <p:cNvPr id="12" name="Rectangle 11"/>
          <p:cNvSpPr/>
          <p:nvPr/>
        </p:nvSpPr>
        <p:spPr>
          <a:xfrm>
            <a:off x="4754880" y="1417320"/>
            <a:ext cx="54864" cy="21031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9200" y="1554480"/>
            <a:ext cx="548640" cy="548640"/>
          </a:xfrm>
          <a:prstGeom prst="ellipse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6002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4CAF50"/>
                </a:solidFill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15544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12121"/>
                </a:solidFill>
              </a:defRPr>
            </a:pPr>
            <a:r>
              <a:t>产品设计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2860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核心功能定义、用户路径与交互原型。</a:t>
            </a:r>
          </a:p>
        </p:txBody>
      </p:sp>
      <p:sp>
        <p:nvSpPr>
          <p:cNvPr id="17" name="Oval 16"/>
          <p:cNvSpPr/>
          <p:nvPr/>
        </p:nvSpPr>
        <p:spPr>
          <a:xfrm>
            <a:off x="7680960" y="2926080"/>
            <a:ext cx="548640" cy="548640"/>
          </a:xfrm>
          <a:prstGeom prst="ellipse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4023360"/>
            <a:ext cx="3657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  <p:spPr>
          <a:effectLst>
            <a:outerShdw blurRad="76200" dist="25400" dir="5400000" algn="tl">
              <a:srgbClr val="000000">
                <a:alpha val="12000"/>
              </a:srgbClr>
            </a:outerShdw>
          </a:effectLst>
        </p:spPr>
      </p:sp>
      <p:sp>
        <p:nvSpPr>
          <p:cNvPr id="19" name="Rectangle 18"/>
          <p:cNvSpPr/>
          <p:nvPr/>
        </p:nvSpPr>
        <p:spPr>
          <a:xfrm>
            <a:off x="731520" y="4160520"/>
            <a:ext cx="54864" cy="21031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5840" y="4297680"/>
            <a:ext cx="548640" cy="548640"/>
          </a:xfrm>
          <a:prstGeom prst="ellipse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3434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9800"/>
                </a:solidFill>
              </a:defRPr>
            </a:pPr>
            <a: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297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12121"/>
                </a:solidFill>
              </a:defRPr>
            </a:pPr>
            <a:r>
              <a:t>技术方案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0292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架构分层、关键选型与性能预算。</a:t>
            </a:r>
          </a:p>
        </p:txBody>
      </p:sp>
      <p:sp>
        <p:nvSpPr>
          <p:cNvPr id="24" name="Oval 23"/>
          <p:cNvSpPr/>
          <p:nvPr/>
        </p:nvSpPr>
        <p:spPr>
          <a:xfrm>
            <a:off x="3657600" y="5669280"/>
            <a:ext cx="548640" cy="548640"/>
          </a:xfrm>
          <a:prstGeom prst="ellipse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754880" y="4023360"/>
            <a:ext cx="3657600" cy="2377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  <p:spPr>
          <a:effectLst>
            <a:outerShdw blurRad="76200" dist="25400" dir="5400000" algn="tl">
              <a:srgbClr val="000000">
                <a:alpha val="12000"/>
              </a:srgbClr>
            </a:outerShdw>
          </a:effectLst>
        </p:spPr>
      </p:sp>
      <p:sp>
        <p:nvSpPr>
          <p:cNvPr id="26" name="Rectangle 25"/>
          <p:cNvSpPr/>
          <p:nvPr/>
        </p:nvSpPr>
        <p:spPr>
          <a:xfrm>
            <a:off x="4754880" y="4160520"/>
            <a:ext cx="54864" cy="2103120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29200" y="4297680"/>
            <a:ext cx="548640" cy="548640"/>
          </a:xfrm>
          <a:prstGeom prst="ellipse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0" y="434340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91E63"/>
                </a:solidFill>
              </a:defRPr>
            </a:pPr>
            <a: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720" y="4297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12121"/>
                </a:solidFill>
              </a:defRPr>
            </a:pPr>
            <a:r>
              <a:t>运营计划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5029200"/>
            <a:ext cx="3108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16161"/>
                </a:solidFill>
              </a:defRPr>
            </a:pPr>
            <a:r>
              <a:t>渠道策略、节奏安排与效果度量。</a:t>
            </a:r>
          </a:p>
        </p:txBody>
      </p:sp>
      <p:sp>
        <p:nvSpPr>
          <p:cNvPr id="31" name="Oval 30"/>
          <p:cNvSpPr/>
          <p:nvPr/>
        </p:nvSpPr>
        <p:spPr>
          <a:xfrm>
            <a:off x="7680960" y="5669280"/>
            <a:ext cx="548640" cy="548640"/>
          </a:xfrm>
          <a:prstGeom prst="ellipse">
            <a:avLst/>
          </a:prstGeom>
          <a:solidFill>
            <a:srgbClr val="F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
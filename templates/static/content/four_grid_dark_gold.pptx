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核心要点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5" name="Rectangle 4"/>
          <p:cNvSpPr/>
          <p:nvPr/>
        </p:nvSpPr>
        <p:spPr>
          <a:xfrm>
            <a:off x="731520" y="1417320"/>
            <a:ext cx="54864" cy="21031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9A96E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市场分析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行业规模、增速与竞争格局的系统性梳理。</a:t>
            </a:r>
          </a:p>
        </p:txBody>
      </p:sp>
      <p:sp>
        <p:nvSpPr>
          <p:cNvPr id="10" name="Oval 9"/>
          <p:cNvSpPr/>
          <p:nvPr/>
        </p:nvSpPr>
        <p:spPr>
          <a:xfrm>
            <a:off x="3657600" y="2926080"/>
            <a:ext cx="548640" cy="54864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2801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2" name="Rectangle 11"/>
          <p:cNvSpPr/>
          <p:nvPr/>
        </p:nvSpPr>
        <p:spPr>
          <a:xfrm>
            <a:off x="4754880" y="1417320"/>
            <a:ext cx="54864" cy="2103120"/>
          </a:xfrm>
          <a:prstGeom prst="rect">
            <a:avLst/>
          </a:prstGeom>
          <a:solidFill>
            <a:srgbClr val="B4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0" y="15544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48C50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产品设计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核心功能定义、用户路径与交互原型。</a:t>
            </a:r>
          </a:p>
        </p:txBody>
      </p:sp>
      <p:sp>
        <p:nvSpPr>
          <p:cNvPr id="17" name="Oval 16"/>
          <p:cNvSpPr/>
          <p:nvPr/>
        </p:nvSpPr>
        <p:spPr>
          <a:xfrm>
            <a:off x="7680960" y="2926080"/>
            <a:ext cx="548640" cy="54864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9" name="Rectangle 18"/>
          <p:cNvSpPr/>
          <p:nvPr/>
        </p:nvSpPr>
        <p:spPr>
          <a:xfrm>
            <a:off x="731520" y="4160520"/>
            <a:ext cx="54864" cy="2103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2976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技术方案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架构分层、关键选型与性能预算。</a:t>
            </a:r>
          </a:p>
        </p:txBody>
      </p:sp>
      <p:sp>
        <p:nvSpPr>
          <p:cNvPr id="24" name="Oval 23"/>
          <p:cNvSpPr/>
          <p:nvPr/>
        </p:nvSpPr>
        <p:spPr>
          <a:xfrm>
            <a:off x="3657600" y="5669280"/>
            <a:ext cx="548640" cy="54864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54880" y="4023360"/>
            <a:ext cx="365760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762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6" name="Rectangle 25"/>
          <p:cNvSpPr/>
          <p:nvPr/>
        </p:nvSpPr>
        <p:spPr>
          <a:xfrm>
            <a:off x="4754880" y="4160520"/>
            <a:ext cx="54864" cy="21031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2976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343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A0A0"/>
                </a:solidFill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2976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运营计划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29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</a:defRPr>
            </a:pPr>
            <a:r>
              <a:t>渠道策略、节奏安排与效果度量。</a:t>
            </a:r>
          </a:p>
        </p:txBody>
      </p:sp>
      <p:sp>
        <p:nvSpPr>
          <p:cNvPr id="31" name="Oval 30"/>
          <p:cNvSpPr/>
          <p:nvPr/>
        </p:nvSpPr>
        <p:spPr>
          <a:xfrm>
            <a:off x="7680960" y="5669280"/>
            <a:ext cx="548640" cy="548640"/>
          </a:xfrm>
          <a:prstGeom prst="ellipse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
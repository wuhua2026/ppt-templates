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12121"/>
                </a:solidFill>
              </a:defRPr>
            </a:pPr>
            <a:r>
              <a:t>组织架构</a:t>
            </a:r>
          </a:p>
        </p:txBody>
      </p:sp>
      <p:sp>
        <p:nvSpPr>
          <p:cNvPr id="5" name="Rectangle 4"/>
          <p:cNvSpPr/>
          <p:nvPr/>
        </p:nvSpPr>
        <p:spPr>
          <a:xfrm>
            <a:off x="3474720" y="987552"/>
            <a:ext cx="2194560" cy="36576"/>
          </a:xfrm>
          <a:prstGeom prst="rect">
            <a:avLst/>
          </a:prstGeom>
          <a:gradFill rotWithShape="1">
            <a:gsLst>
              <a:gs pos="0">
                <a:srgbClr val="000000"/>
              </a:gs>
              <a:gs pos="100000">
                <a:srgbClr val="C8C8C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6032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4762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572000" y="2090420"/>
            <a:ext cx="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5930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59300" y="17373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0" y="2090420"/>
            <a:ext cx="201168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70980" y="210312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5544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4178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54762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6032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5346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5930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6514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570980" y="320040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83680" y="3553460"/>
            <a:ext cx="1005840" cy="2540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76820" y="3566160"/>
            <a:ext cx="25400" cy="365760"/>
          </a:xfrm>
          <a:prstGeom prst="rect">
            <a:avLst/>
          </a:prstGeom>
          <a:solidFill>
            <a:srgbClr val="90A4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66160" y="960120"/>
            <a:ext cx="2011680" cy="822960"/>
          </a:xfrm>
          <a:prstGeom prst="round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11880" y="10058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张三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11880" y="1325880"/>
            <a:ext cx="1920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CEO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691640" y="2446020"/>
            <a:ext cx="1737360" cy="7772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73736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李四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技术总监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03320" y="2446020"/>
            <a:ext cx="1737360" cy="7772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74904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王五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74904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产品总监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15000" y="2446020"/>
            <a:ext cx="1737360" cy="777240"/>
          </a:xfrm>
          <a:prstGeom prst="round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0" y="24917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赵六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60720" y="28117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</a:defRPr>
            </a:pPr>
            <a:r>
              <a:t>运营总监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7724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296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钱七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前端组长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3464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孙八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83464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后端组长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80060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周九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84632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产品经理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812280" y="3931920"/>
            <a:ext cx="1554480" cy="7315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858000" y="397764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12121"/>
                </a:solidFill>
              </a:defRPr>
            </a:pPr>
            <a:r>
              <a:t>吴十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4297680"/>
            <a:ext cx="1463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212121"/>
                </a:solidFill>
              </a:defRPr>
            </a:pPr>
            <a:r>
              <a:t>市场经理</a:t>
            </a:r>
          </a:p>
        </p:txBody>
      </p:sp>
      <p:sp>
        <p:nvSpPr>
          <p:cNvPr id="51" name="Diamond 50"/>
          <p:cNvSpPr/>
          <p:nvPr/>
        </p:nvSpPr>
        <p:spPr>
          <a:xfrm>
            <a:off x="274320" y="6217920"/>
            <a:ext cx="274320" cy="274320"/>
          </a:xfrm>
          <a:prstGeom prst="diamond">
            <a:avLst/>
          </a:prstGeom>
          <a:solidFill>
            <a:srgbClr val="C5CAE9">
              <a:alpha val="6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mond 51"/>
          <p:cNvSpPr/>
          <p:nvPr/>
        </p:nvSpPr>
        <p:spPr>
          <a:xfrm>
            <a:off x="8686800" y="182880"/>
            <a:ext cx="228600" cy="228600"/>
          </a:xfrm>
          <a:prstGeom prst="diamond">
            <a:avLst/>
          </a:prstGeom>
          <a:solidFill>
            <a:srgbClr val="C8C8C8">
              <a:alpha val="5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400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300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300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300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300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300</p:duration>
                  <p:tgtEl>
                    <p:spTgt spid="1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1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1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300</p:duration>
                  <p:tgtEl>
                    <p:spTgt spid="1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1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00"/>
                  </p:stCondLst>
                  <p:duration>300</p:duration>
                  <p:tgtEl>
                    <p:spTgt spid="2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00"/>
                  </p:stCondLst>
                  <p:duration>300</p:duration>
                  <p:tgtEl>
                    <p:spTgt spid="2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0"/>
                  </p:stCondLst>
                  <p:duration>300</p:duration>
                  <p:tgtEl>
                    <p:spTgt spid="2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50"/>
                  </p:stCondLst>
                  <p:duration>300</p:duration>
                  <p:tgtEl>
                    <p:spTgt spid="2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50"/>
                  </p:stCondLst>
                  <p:duration>300</p:duration>
                  <p:tgtEl>
                    <p:spTgt spid="2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50"/>
                  </p:stCondLst>
                  <p:duration>300</p:duration>
                  <p:tgtEl>
                    <p:spTgt spid="2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2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80"/>
                  </p:stCondLst>
                  <p:duration>500</p:duration>
                  <p:tgtEl>
                    <p:spTgt spid="3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60"/>
                  </p:stCondLst>
                  <p:duration>500</p:duration>
                  <p:tgtEl>
                    <p:spTgt spid="3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3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80"/>
                  </p:stCondLst>
                  <p:duration>500</p:duration>
                  <p:tgtEl>
                    <p:spTgt spid="4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860"/>
                  </p:stCondLst>
                  <p:duration>500</p:duration>
                  <p:tgtEl>
                    <p:spTgt spid="4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940"/>
                  </p:stCondLst>
                  <p:duration>500</p:duration>
                  <p:tgtEl>
                    <p:spTgt spid="4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400</p:duration>
                  <p:tgtEl>
                    <p:spTgt spid="5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400</p:duration>
                  <p:tgtEl>
                    <p:spTgt spid="52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
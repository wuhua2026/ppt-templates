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核心团队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2194560" cy="36576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7" name="Oval 6"/>
          <p:cNvSpPr/>
          <p:nvPr/>
        </p:nvSpPr>
        <p:spPr>
          <a:xfrm>
            <a:off x="1280160" y="1005840"/>
            <a:ext cx="1097280" cy="1097280"/>
          </a:xfrm>
          <a:prstGeom prst="ellipse">
            <a:avLst/>
          </a:prstGeom>
          <a:solidFill>
            <a:srgbClr val="3F51B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2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张明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E0EF"/>
                </a:solidFill>
              </a:defRPr>
            </a:pPr>
            <a:r>
              <a:t>CEO 首席执行官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14" name="Oval 13"/>
          <p:cNvSpPr/>
          <p:nvPr/>
        </p:nvSpPr>
        <p:spPr>
          <a:xfrm>
            <a:off x="4023360" y="1005840"/>
            <a:ext cx="1097280" cy="1097280"/>
          </a:xfrm>
          <a:prstGeom prst="ellipse">
            <a:avLst/>
          </a:prstGeom>
          <a:solidFill>
            <a:srgbClr val="5C6BC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434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605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李华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E0EF"/>
                </a:solidFill>
              </a:defRPr>
            </a:pPr>
            <a:r>
              <a:t>CTO 首席技术官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1" name="Oval 20"/>
          <p:cNvSpPr/>
          <p:nvPr/>
        </p:nvSpPr>
        <p:spPr>
          <a:xfrm>
            <a:off x="6766560" y="1005840"/>
            <a:ext cx="1097280" cy="1097280"/>
          </a:xfrm>
          <a:prstGeom prst="ellipse">
            <a:avLst/>
          </a:prstGeom>
          <a:solidFill>
            <a:srgbClr val="7986C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866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037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王芳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E0EF"/>
                </a:solidFill>
              </a:defRPr>
            </a:pPr>
            <a:r>
              <a:t>CPO 首席产品官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8" name="Oval 27"/>
          <p:cNvSpPr/>
          <p:nvPr/>
        </p:nvSpPr>
        <p:spPr>
          <a:xfrm>
            <a:off x="1280160" y="4480560"/>
            <a:ext cx="1097280" cy="1097280"/>
          </a:xfrm>
          <a:prstGeom prst="ellipse">
            <a:avLst/>
          </a:prstGeom>
          <a:solidFill>
            <a:srgbClr val="1E88E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002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173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赵强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E0EF"/>
                </a:solidFill>
              </a:defRPr>
            </a:pPr>
            <a:r>
              <a:t>CFO 首席财务官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832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35" name="Oval 34"/>
          <p:cNvSpPr/>
          <p:nvPr/>
        </p:nvSpPr>
        <p:spPr>
          <a:xfrm>
            <a:off x="4023360" y="4480560"/>
            <a:ext cx="1097280" cy="1097280"/>
          </a:xfrm>
          <a:prstGeom prst="ellipse">
            <a:avLst/>
          </a:prstGeom>
          <a:solidFill>
            <a:srgbClr val="42A5F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3434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1605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陈静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E0EF"/>
                </a:solidFill>
              </a:defRPr>
            </a:pPr>
            <a:r>
              <a:t>COO 首席运营官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264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42" name="Oval 41"/>
          <p:cNvSpPr/>
          <p:nvPr/>
        </p:nvSpPr>
        <p:spPr>
          <a:xfrm>
            <a:off x="6766560" y="4480560"/>
            <a:ext cx="1097280" cy="1097280"/>
          </a:xfrm>
          <a:prstGeom prst="ellipse">
            <a:avLst/>
          </a:prstGeom>
          <a:solidFill>
            <a:srgbClr val="64B5F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0866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9037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刘伟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E0EF"/>
                </a:solidFill>
              </a:defRPr>
            </a:pPr>
            <a:r>
              <a:t>CMO 首席营销官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20"/>
                  </p:stCondLst>
                  <p:duration>500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20"/>
                  </p:stCondLst>
                  <p:duration>500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40"/>
                  </p:stCondLst>
                  <p:duration>500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40"/>
                  </p:stCondLst>
                  <p:duration>500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60"/>
                  </p:stCondLst>
                  <p:duration>500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80"/>
                  </p:stCondLst>
                  <p:duration>500</p:duration>
                  <p:tgtEl>
                    <p:spTgt spid="3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80"/>
                  </p:stCondLst>
                  <p:duration>500</p:duration>
                  <p:tgtEl>
                    <p:spTgt spid="3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500</p:duration>
                  <p:tgtEl>
                    <p:spTgt spid="4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4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
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333333"/>
                </a:solidFill>
              </a:defRPr>
            </a:pPr>
            <a:r>
              <a:t>实施日程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3639312" y="1097280"/>
            <a:ext cx="36576" cy="5303520"/>
          </a:xfrm>
          <a:prstGeom prst="rect">
            <a:avLst/>
          </a:prstGeom>
          <a:solidFill>
            <a:srgbClr val="BDBD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0" y="914400"/>
            <a:ext cx="365760" cy="365760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474720" y="100584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2331720" y="1088136"/>
            <a:ext cx="1097280" cy="18288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-777240" y="70866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-594360" y="8001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项目启动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-594360" y="10744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需求调研与范围确认</a:t>
            </a:r>
          </a:p>
        </p:txBody>
      </p:sp>
      <p:sp>
        <p:nvSpPr>
          <p:cNvPr id="11" name="Oval 10"/>
          <p:cNvSpPr/>
          <p:nvPr/>
        </p:nvSpPr>
        <p:spPr>
          <a:xfrm>
            <a:off x="3474720" y="2240280"/>
            <a:ext cx="365760" cy="36576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33172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86200" y="2414016"/>
            <a:ext cx="1097280" cy="18288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892040" y="203454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1259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方案设计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40030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架构选型与原型评审</a:t>
            </a:r>
          </a:p>
        </p:txBody>
      </p:sp>
      <p:sp>
        <p:nvSpPr>
          <p:cNvPr id="17" name="Oval 16"/>
          <p:cNvSpPr/>
          <p:nvPr/>
        </p:nvSpPr>
        <p:spPr>
          <a:xfrm>
            <a:off x="3474720" y="3566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0" y="365760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3739896"/>
            <a:ext cx="1097280" cy="18288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-777240" y="336042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-594360" y="34518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开发实施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594360" y="372618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模块开发与联调</a:t>
            </a:r>
          </a:p>
        </p:txBody>
      </p:sp>
      <p:sp>
        <p:nvSpPr>
          <p:cNvPr id="23" name="Oval 22"/>
          <p:cNvSpPr/>
          <p:nvPr/>
        </p:nvSpPr>
        <p:spPr>
          <a:xfrm>
            <a:off x="3474720" y="4892040"/>
            <a:ext cx="36576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74720" y="498348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86200" y="5065776"/>
            <a:ext cx="1097280" cy="18288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4892040" y="468630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74920" y="47777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测试验收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505206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功能测试与性能压测</a:t>
            </a:r>
          </a:p>
        </p:txBody>
      </p:sp>
      <p:sp>
        <p:nvSpPr>
          <p:cNvPr id="29" name="Oval 28"/>
          <p:cNvSpPr/>
          <p:nvPr/>
        </p:nvSpPr>
        <p:spPr>
          <a:xfrm>
            <a:off x="3474720" y="6217920"/>
            <a:ext cx="365760" cy="365760"/>
          </a:xfrm>
          <a:prstGeom prst="ellipse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74720" y="6309360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31720" y="6391656"/>
            <a:ext cx="1097280" cy="18288"/>
          </a:xfrm>
          <a:prstGeom prst="rect">
            <a:avLst/>
          </a:prstGeom>
          <a:solidFill>
            <a:srgbClr val="9C27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-777240" y="6012180"/>
            <a:ext cx="320040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-594360" y="610362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212121"/>
                </a:solidFill>
              </a:defRPr>
            </a:pPr>
            <a:r>
              <a:t>上线交付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-594360" y="63779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57575"/>
                </a:solidFill>
              </a:defRPr>
            </a:pPr>
            <a:r>
              <a:t>灰度发布与文档交付</a:t>
            </a:r>
          </a:p>
        </p:txBody>
      </p:sp>
      <p:sp>
        <p:nvSpPr>
          <p:cNvPr id="35" name="Oval 34"/>
          <p:cNvSpPr/>
          <p:nvPr/>
        </p:nvSpPr>
        <p:spPr>
          <a:xfrm>
            <a:off x="3584448" y="1024128"/>
            <a:ext cx="146304" cy="146304"/>
          </a:xfrm>
          <a:prstGeom prst="ellipse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3584448" y="6327648"/>
            <a:ext cx="146304" cy="146304"/>
          </a:xfrm>
          <a:prstGeom prst="ellipse">
            <a:avLst/>
          </a:prstGeom>
          <a:solidFill>
            <a:srgbClr val="9E9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
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</a:defRPr>
            </a:pPr>
            <a:r>
              <a:t>发展历程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011680" y="1097280"/>
            <a:ext cx="0" cy="5394960"/>
          </a:xfrm>
          <a:prstGeom prst="line">
            <a:avLst/>
          </a:prstGeom>
          <a:ln w="38100">
            <a:solidFill>
              <a:srgbClr val="BDC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901952" y="1527048"/>
            <a:ext cx="219456" cy="219456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167128" y="1636776"/>
            <a:ext cx="758952" cy="0"/>
          </a:xfrm>
          <a:prstGeom prst="line">
            <a:avLst/>
          </a:prstGeom>
          <a:ln w="1905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74320" y="14996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3498DB"/>
                </a:solidFill>
              </a:defRPr>
            </a:pPr>
            <a:r>
              <a:t>2020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408176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</a:defRPr>
            </a:pPr>
            <a:r>
              <a:t>公司成立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682496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初创团队组建</a:t>
            </a:r>
          </a:p>
        </p:txBody>
      </p:sp>
      <p:sp>
        <p:nvSpPr>
          <p:cNvPr id="9" name="Oval 8"/>
          <p:cNvSpPr/>
          <p:nvPr/>
        </p:nvSpPr>
        <p:spPr>
          <a:xfrm>
            <a:off x="1901952" y="2606040"/>
            <a:ext cx="219456" cy="219456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2167128" y="2715768"/>
            <a:ext cx="758952" cy="0"/>
          </a:xfrm>
          <a:prstGeom prst="line">
            <a:avLst/>
          </a:prstGeom>
          <a:ln w="1905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4320" y="25786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E74C3C"/>
                </a:solidFill>
              </a:defRPr>
            </a:pPr>
            <a:r>
              <a:t>2021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487168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</a:defRPr>
            </a:pPr>
            <a:r>
              <a:t>产品研发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761488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核心产品上线</a:t>
            </a:r>
          </a:p>
        </p:txBody>
      </p:sp>
      <p:sp>
        <p:nvSpPr>
          <p:cNvPr id="14" name="Oval 13"/>
          <p:cNvSpPr/>
          <p:nvPr/>
        </p:nvSpPr>
        <p:spPr>
          <a:xfrm>
            <a:off x="1901952" y="3685032"/>
            <a:ext cx="219456" cy="219456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2167128" y="3794760"/>
            <a:ext cx="758952" cy="0"/>
          </a:xfrm>
          <a:prstGeom prst="line">
            <a:avLst/>
          </a:prstGeom>
          <a:ln w="1905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74320" y="36576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2ECC71"/>
                </a:solidFill>
              </a:defRPr>
            </a:pPr>
            <a:r>
              <a:t>2022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56616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</a:defRPr>
            </a:pPr>
            <a:r>
              <a:t>市场拓展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84048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全国市场布局</a:t>
            </a:r>
          </a:p>
        </p:txBody>
      </p:sp>
      <p:sp>
        <p:nvSpPr>
          <p:cNvPr id="19" name="Oval 18"/>
          <p:cNvSpPr/>
          <p:nvPr/>
        </p:nvSpPr>
        <p:spPr>
          <a:xfrm>
            <a:off x="1901952" y="4764024"/>
            <a:ext cx="219456" cy="219456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2167128" y="4873752"/>
            <a:ext cx="758952" cy="0"/>
          </a:xfrm>
          <a:prstGeom prst="line">
            <a:avLst/>
          </a:prstGeom>
          <a:ln w="19050">
            <a:solidFill>
              <a:srgbClr val="9B5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74320" y="473659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9B59B6"/>
                </a:solidFill>
              </a:defRPr>
            </a:pPr>
            <a:r>
              <a:t>2023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645152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</a:defRPr>
            </a:pPr>
            <a:r>
              <a:t>A轮融资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91947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完成千万融资</a:t>
            </a:r>
          </a:p>
        </p:txBody>
      </p:sp>
      <p:sp>
        <p:nvSpPr>
          <p:cNvPr id="24" name="Oval 23"/>
          <p:cNvSpPr/>
          <p:nvPr/>
        </p:nvSpPr>
        <p:spPr>
          <a:xfrm>
            <a:off x="1901952" y="5843016"/>
            <a:ext cx="219456" cy="219456"/>
          </a:xfrm>
          <a:prstGeom prst="ellipse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2167128" y="5952744"/>
            <a:ext cx="758952" cy="0"/>
          </a:xfrm>
          <a:prstGeom prst="line">
            <a:avLst/>
          </a:prstGeom>
          <a:ln w="19050">
            <a:solidFill>
              <a:srgbClr val="F1C4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74320" y="581558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1C40F"/>
                </a:solidFill>
              </a:defRPr>
            </a:pPr>
            <a:r>
              <a:t>2024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5724144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</a:defRPr>
            </a:pPr>
            <a:r>
              <a:t>国际化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5998464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8D"/>
                </a:solidFill>
              </a:defRPr>
            </a:pPr>
            <a:r>
              <a:t>海外市场开拓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
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</a:defRPr>
            </a:pPr>
            <a:r>
              <a:t>发展历程</a:t>
            </a:r>
          </a:p>
        </p:txBody>
      </p:sp>
      <p:sp>
        <p:nvSpPr>
          <p:cNvPr id="3" name="Oval 2"/>
          <p:cNvSpPr/>
          <p:nvPr/>
        </p:nvSpPr>
        <p:spPr>
          <a:xfrm>
            <a:off x="3886200" y="2734056"/>
            <a:ext cx="1005840" cy="100584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83480" y="309981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498DB"/>
                </a:solidFill>
              </a:defRPr>
            </a:pPr>
            <a:r>
              <a:t>2020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83480" y="328269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</a:defRPr>
            </a:pPr>
            <a:r>
              <a:t>公司成立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0" y="3236976"/>
            <a:ext cx="756592" cy="289093"/>
          </a:xfrm>
          <a:prstGeom prst="line">
            <a:avLst/>
          </a:prstGeom>
          <a:ln w="19050">
            <a:solidFill>
              <a:srgbClr val="BDC3C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4670224" y="3050581"/>
            <a:ext cx="950976" cy="95097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5632" y="2639101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74C3C"/>
                </a:solidFill>
              </a:defRPr>
            </a:pPr>
            <a:r>
              <a:t>2021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5632" y="2821981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</a:defRPr>
            </a:pPr>
            <a:r>
              <a:t>产品研发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5009898" y="3526069"/>
            <a:ext cx="135814" cy="1100259"/>
          </a:xfrm>
          <a:prstGeom prst="line">
            <a:avLst/>
          </a:prstGeom>
          <a:ln w="19050">
            <a:solidFill>
              <a:srgbClr val="BDC3C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561842" y="4178272"/>
            <a:ext cx="896112" cy="896112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49394" y="448916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ECC71"/>
                </a:solidFill>
              </a:defRPr>
            </a:pPr>
            <a:r>
              <a:t>2022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49394" y="467204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</a:defRPr>
            </a:pPr>
            <a:r>
              <a:t>市场拓展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615162" y="4626328"/>
            <a:ext cx="1394736" cy="210833"/>
          </a:xfrm>
          <a:prstGeom prst="line">
            <a:avLst/>
          </a:prstGeom>
          <a:ln w="19050">
            <a:solidFill>
              <a:srgbClr val="BDC3C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194538" y="4416537"/>
            <a:ext cx="841248" cy="841248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2938" y="4700001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B59B6"/>
                </a:solidFill>
              </a:defRPr>
            </a:pPr>
            <a:r>
              <a:t>2023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2938" y="4882881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</a:defRPr>
            </a:pPr>
            <a:r>
              <a:t>A轮融资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2888981" y="3284476"/>
            <a:ext cx="726181" cy="1552685"/>
          </a:xfrm>
          <a:prstGeom prst="line">
            <a:avLst/>
          </a:prstGeom>
          <a:ln w="19050">
            <a:solidFill>
              <a:srgbClr val="BDC3C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495789" y="2891284"/>
            <a:ext cx="786384" cy="786384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8901" y="247980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C40F"/>
                </a:solidFill>
              </a:defRPr>
            </a:pPr>
            <a:r>
              <a:t>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8901" y="266268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</a:defRPr>
            </a:pPr>
            <a:r>
              <a:t>国际化</a:t>
            </a:r>
          </a:p>
        </p:txBody>
      </p:sp>
      <p:sp>
        <p:nvSpPr>
          <p:cNvPr id="22" name="Oval 21"/>
          <p:cNvSpPr/>
          <p:nvPr/>
        </p:nvSpPr>
        <p:spPr>
          <a:xfrm>
            <a:off x="4279392" y="3662172"/>
            <a:ext cx="219456" cy="219456"/>
          </a:xfrm>
          <a:prstGeom prst="ellipse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
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0" y="0"/>
            <a:ext cx="12700" cy="68580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27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143000"/>
            <a:ext cx="9144000" cy="127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286000"/>
            <a:ext cx="9144000" cy="127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429000"/>
            <a:ext cx="9144000" cy="127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72000"/>
            <a:ext cx="9144000" cy="127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715000"/>
            <a:ext cx="9144000" cy="12700"/>
          </a:xfrm>
          <a:prstGeom prst="rect">
            <a:avLst/>
          </a:prstGeom>
          <a:solidFill>
            <a:srgbClr val="FFD700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900000">
            <a:off x="274320" y="182880"/>
            <a:ext cx="2560320" cy="2560320"/>
          </a:xfrm>
          <a:prstGeom prst="rect">
            <a:avLst/>
          </a:prstGeom>
          <a:solidFill>
            <a:srgbClr val="FFD70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5303520" y="274320"/>
            <a:ext cx="2011680" cy="2011680"/>
          </a:xfrm>
          <a:prstGeom prst="diamond">
            <a:avLst/>
          </a:prstGeom>
          <a:solidFill>
            <a:srgbClr val="C9A96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-1200000">
            <a:off x="6400800" y="4114800"/>
            <a:ext cx="2286000" cy="2286000"/>
          </a:xfrm>
          <a:prstGeom prst="rect">
            <a:avLst/>
          </a:prstGeom>
          <a:solidFill>
            <a:srgbClr val="FFD70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 rot="1800000">
            <a:off x="731520" y="4572000"/>
            <a:ext cx="1645920" cy="1645920"/>
          </a:xfrm>
          <a:prstGeom prst="diamond">
            <a:avLst/>
          </a:prstGeom>
          <a:solidFill>
            <a:srgbClr val="C9A96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00200" y="2057400"/>
            <a:ext cx="5943600" cy="2743200"/>
          </a:xfrm>
          <a:prstGeom prst="roundRect">
            <a:avLst/>
          </a:prstGeom>
          <a:solidFill>
            <a:srgbClr val="000000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00200" y="2057400"/>
            <a:ext cx="5943600" cy="127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0200" y="4787900"/>
            <a:ext cx="5943600" cy="127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Technology Theme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520440"/>
            <a:ext cx="2286000" cy="127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目 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377440" cy="14630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3774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</a:defRPr>
            </a:pPr>
            <a:r>
              <a:t>技术架构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14630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3774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</a:defRPr>
            </a:pPr>
            <a:r>
              <a:t>核心技术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377440" cy="14630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3774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</a:defRPr>
            </a:pPr>
            <a:r>
              <a:t>技术栈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2377440" cy="14630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00400"/>
            <a:ext cx="23774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</a:defRPr>
            </a:pPr>
            <a:r>
              <a:t>性能指标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200400"/>
            <a:ext cx="2377440" cy="14630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3200400"/>
            <a:ext cx="23774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9A96E"/>
                </a:solidFill>
              </a:defRPr>
            </a:pPr>
            <a:r>
              <a:t>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D7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96E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96E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技术架构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7772400" cy="10058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1371600" cy="1005840"/>
          </a:xfrm>
          <a:prstGeom prst="rect">
            <a:avLst/>
          </a:prstGeom>
          <a:solidFill>
            <a:srgbClr val="FFD7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630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Web端 | 移动端 | API网关 | 管理后台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77440"/>
            <a:ext cx="7772400" cy="10058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1371600" cy="10058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6517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微服务集群 | AI引擎 | 数据处理 | 消息队列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7772400" cy="10058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1371600" cy="1005840"/>
          </a:xfrm>
          <a:prstGeom prst="rect">
            <a:avLst/>
          </a:prstGeom>
          <a:solidFill>
            <a:srgbClr val="FFD7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8404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关系数据库 | 缓存集群 | 对象存储 | 数据仓库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54880"/>
            <a:ext cx="7772400" cy="100584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754880"/>
            <a:ext cx="1371600" cy="1005840"/>
          </a:xfrm>
          <a:prstGeom prst="rect">
            <a:avLst/>
          </a:prstGeom>
          <a:solidFill>
            <a:srgbClr val="C9A96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基础设施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0292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Kubernetes | Docker | CI/CD | 监控告警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</a:defRPr>
            </a:pPr>
            <a:r>
              <a:t>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</a:defRPr>
            </a:pPr>
            <a: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17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</a:defRPr>
            </a:pPr>
            <a:r>
              <a:t>|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8229600" cy="73152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897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高可用 | 水平扩展 | 微服务架构 | 云原生 | 安全合规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D7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96E"/>
                </a:solidFill>
              </a:defRPr>
            </a:pPr>
            <a:r>
              <a:t>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96E"/>
                </a:solidFill>
              </a:defRPr>
            </a:pPr>
            <a:r>
              <a:t>Core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核心技术 - 第1部分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840480" cy="41148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840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分布式计算引擎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基于Spark/Flink的实时计算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支持PB级数据处理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毫秒级延迟保障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自动容错与恢复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188720"/>
            <a:ext cx="3840480" cy="41148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188720"/>
            <a:ext cx="3840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AI推理框架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37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自研模型推理引擎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支持多模态输入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2494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GPU集群调度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模型版本管理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核心技术 - 第2部分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840480" cy="41148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840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智能路由系统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动态负载均衡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智能流量调度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故障自动切换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多活架构支持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188720"/>
            <a:ext cx="3840480" cy="41148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188720"/>
            <a:ext cx="3840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安全防护体系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37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零信任安全模型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端到端加密传输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2494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实时威胁检测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合规审计日志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核心技术 - 第3部分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840480" cy="41148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840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数据湖架构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统一数据存储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Schema自动发现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数据血缘追踪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跨源数据融合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188720"/>
            <a:ext cx="3840480" cy="41148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188720"/>
            <a:ext cx="38404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边缘计算平台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37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边缘节点管理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993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离线计算能力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24942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云端协同推理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5054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9A96E"/>
                </a:solidFill>
              </a:defRPr>
            </a:pPr>
            <a:r>
              <a:t>  设备统一接入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D7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96E"/>
                </a:solidFill>
              </a:defRPr>
            </a:pPr>
            <a:r>
              <a:t>技术栈与性能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96E"/>
                </a:solidFill>
              </a:defRPr>
            </a:pPr>
            <a:r>
              <a:t>Tech Stack &amp;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技术栈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560320" cy="20116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560320" cy="411480"/>
          </a:xfrm>
          <a:prstGeom prst="rect">
            <a:avLst/>
          </a:prstGeom>
          <a:solidFill>
            <a:srgbClr val="FFD7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前端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73736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Vue.js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05740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205740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2057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Flutter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3774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377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WebSocket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188720"/>
            <a:ext cx="2560320" cy="20116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solidFill>
            <a:srgbClr val="FFD7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后端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173736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173736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05740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057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Java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205740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057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gRPC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23774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377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GraphQL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188720"/>
            <a:ext cx="2560320" cy="20116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solidFill>
            <a:srgbClr val="FFD7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73736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PostgreSQL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173736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1737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Redis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05740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057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Kafka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205740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20574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Elasticsearch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23774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377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ClickHouse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429000"/>
            <a:ext cx="2560320" cy="20116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429000"/>
            <a:ext cx="2560320" cy="411480"/>
          </a:xfrm>
          <a:prstGeom prst="rect">
            <a:avLst/>
          </a:prstGeom>
          <a:solidFill>
            <a:srgbClr val="FFD7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AI/ML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39776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977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PyTorch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91640" y="39776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91640" y="3977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TensorFlow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429768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297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HuggingFace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91640" y="429768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91640" y="4297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ONNX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461772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617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CUDA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91840" y="3429000"/>
            <a:ext cx="2560320" cy="20116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91840" y="3429000"/>
            <a:ext cx="2560320" cy="411480"/>
          </a:xfrm>
          <a:prstGeom prst="rect">
            <a:avLst/>
          </a:prstGeom>
          <a:solidFill>
            <a:srgbClr val="FFD7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29000" y="39776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29000" y="3977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K8s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39776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3977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Docker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29000" y="429768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29000" y="4297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Terraform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26280" y="429768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26280" y="4297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ArgoCD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29000" y="461772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29000" y="4617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Prometheus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26480" y="3429000"/>
            <a:ext cx="2560320" cy="20116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6480" y="3429000"/>
            <a:ext cx="2560320" cy="411480"/>
          </a:xfrm>
          <a:prstGeom prst="rect">
            <a:avLst/>
          </a:prstGeom>
          <a:solidFill>
            <a:srgbClr val="FFD7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云服务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39776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63640" y="3977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AWS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60920" y="397764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60920" y="3977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阿里云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63640" y="429768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4297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GCP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60920" y="429768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60920" y="4297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Azure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4617720"/>
            <a:ext cx="100584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3640" y="46177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D700"/>
                </a:solidFill>
              </a:defRPr>
            </a:pPr>
            <a:r>
              <a:t>自建IDC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性能指标 - 第1部分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E"/>
                </a:solidFill>
              </a:defRPr>
            </a:pPr>
            <a:r>
              <a:t>系统性能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API响应时间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&lt;50ms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99th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系统可用性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99.99%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SLA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并发处理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100K+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QPS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数据处理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5PB/天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日处理量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全球多区域部署，就近接入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自动弹性伸缩，应对流量峰值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全链路监控，秒级告警响应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性能指标 - 第2部分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E"/>
                </a:solidFill>
              </a:defRPr>
            </a:pPr>
            <a:r>
              <a:t>AI性能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模型推理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&lt;10ms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P99延迟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训练效率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3x加速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对比基线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0916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准确率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F1-Score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1645920"/>
            <a:ext cx="1828800" cy="22860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16459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模型大小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50MB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A96E"/>
                </a:solidFill>
              </a:defRPr>
            </a:pPr>
            <a:r>
              <a:t>压缩后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自研推理引擎，深度优化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支持模型量化与剪枝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在线A/B测试，持续迭代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D7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96E"/>
                </a:solidFill>
              </a:defRPr>
            </a:pPr>
            <a:r>
              <a:t>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96E"/>
                </a:solidFill>
              </a:defRPr>
            </a:pPr>
            <a:r>
              <a:t>Future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</a:defRPr>
            </a:pPr>
            <a:r>
              <a:t>未来规划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377440" cy="36576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2377440" cy="914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2025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技术深化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大模型能力建设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实时计算升级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安全体系强化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2377440" cy="36576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188720"/>
            <a:ext cx="2377440" cy="914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2026 H1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平台化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开放API平台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开发者生态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行业解决方案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377440" cy="36576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377440" cy="914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2026 H2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A96E"/>
                </a:solidFill>
              </a:defRPr>
            </a:pPr>
            <a:r>
              <a:t>国际化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多区域部署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多语言支持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  合规认证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949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技术愿景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A96E"/>
                </a:solidFill>
              </a:defRPr>
            </a:pPr>
            <a:r>
              <a:t>以技术创新驱动业务增长，打造行业领先的技术平台，赋能千行百业数字化转型。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FFD70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A96E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A96E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B0"/>
                </a:solidFill>
              </a:defRPr>
            </a:pPr>
            <a:r>
              <a:t>探索无界 创新不止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017520"/>
            <a:ext cx="1828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4114800"/>
            <a:ext cx="91440" cy="91440"/>
          </a:xfrm>
          <a:prstGeom prst="ellipse">
            <a:avLst/>
          </a:prstGeom>
          <a:solidFill>
            <a:srgbClr val="FFD7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31920" y="4114800"/>
            <a:ext cx="91440" cy="91440"/>
          </a:xfrm>
          <a:prstGeom prst="ellipse">
            <a:avLst/>
          </a:prstGeom>
          <a:solidFill>
            <a:srgbClr val="FFD700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0" y="4114800"/>
            <a:ext cx="91440" cy="91440"/>
          </a:xfrm>
          <a:prstGeom prst="ellipse">
            <a:avLst/>
          </a:prstGeom>
          <a:solidFill>
            <a:srgbClr val="FFD700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94960" y="4114800"/>
            <a:ext cx="91440" cy="91440"/>
          </a:xfrm>
          <a:prstGeom prst="ellipse">
            <a:avLst/>
          </a:prstGeom>
          <a:solidFill>
            <a:srgbClr val="FFD700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26480" y="4114800"/>
            <a:ext cx="91440" cy="91440"/>
          </a:xfrm>
          <a:prstGeom prst="ellipse">
            <a:avLst/>
          </a:prstGeom>
          <a:solidFill>
            <a:srgbClr val="FFD700">
              <a:alpha val="21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
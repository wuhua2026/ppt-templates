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2D6A4F"/>
              </a:gs>
              <a:gs pos="100000">
                <a:srgbClr val="52B7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0" y="-1371600"/>
            <a:ext cx="4114800" cy="4114800"/>
          </a:xfrm>
          <a:prstGeom prst="ellipse">
            <a:avLst/>
          </a:prstGeom>
          <a:solidFill>
            <a:srgbClr val="A8DAB5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2D6A4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Education Course Demo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3520440"/>
            <a:ext cx="2286000" cy="254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749039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1C784"/>
                </a:solidFill>
              </a:defRPr>
            </a:pPr>
            <a:r>
              <a:t>PPT Template Library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目 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23774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2377440" cy="54864"/>
          </a:xfrm>
          <a:prstGeom prst="rect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A8DAB5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6A4F"/>
                </a:solidFill>
              </a:defRPr>
            </a:pPr>
            <a:r>
              <a:t>课程介绍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371600"/>
            <a:ext cx="23774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377440" cy="54864"/>
          </a:xfrm>
          <a:prstGeom prst="rect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A8DAB5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103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6A4F"/>
                </a:solidFill>
              </a:defRPr>
            </a:pPr>
            <a:r>
              <a:t>教学目标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371600"/>
            <a:ext cx="23774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371600"/>
            <a:ext cx="2377440" cy="54864"/>
          </a:xfrm>
          <a:prstGeom prst="rect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A8DAB5"/>
                </a:solidFill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103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6A4F"/>
                </a:solidFill>
              </a:defRPr>
            </a:pPr>
            <a:r>
              <a:t>知识点讲解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108960"/>
            <a:ext cx="23774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108960"/>
            <a:ext cx="2377440" cy="54864"/>
          </a:xfrm>
          <a:prstGeom prst="rect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291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A8DAB5"/>
                </a:solidFill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840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6A4F"/>
                </a:solidFill>
              </a:defRPr>
            </a:pPr>
            <a:r>
              <a:t>案例分析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3108960"/>
            <a:ext cx="23774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83280" y="3108960"/>
            <a:ext cx="2377440" cy="54864"/>
          </a:xfrm>
          <a:prstGeom prst="rect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3291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A8DAB5"/>
                </a:solidFill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840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6A4F"/>
                </a:solidFill>
              </a:defRPr>
            </a:pPr>
            <a:r>
              <a:t>课堂练习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108960"/>
            <a:ext cx="23774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3108960"/>
            <a:ext cx="2377440" cy="54864"/>
          </a:xfrm>
          <a:prstGeom prst="rect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3291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A8DAB5"/>
                </a:solidFill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3840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6A4F"/>
                </a:solidFill>
              </a:defRPr>
            </a:pPr>
            <a:r>
              <a:t>总结回顾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9144000" cy="1828800"/>
          </a:xfrm>
          <a:prstGeom prst="rect">
            <a:avLst/>
          </a:prstGeom>
          <a:solidFill>
            <a:srgbClr val="A8DAB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D6A4F"/>
                </a:solidFill>
              </a:defRPr>
            </a:pPr>
            <a:r>
              <a:t>课程介绍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D6A4F"/>
                </a:solidFill>
              </a:defRPr>
            </a:pPr>
            <a:r>
              <a:t>Course 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课程介绍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0292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6A4F"/>
                </a:solidFill>
              </a:defRPr>
            </a:pPr>
            <a:r>
              <a:t>课程概述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6A4F"/>
                </a:solidFill>
              </a:defRPr>
            </a:pPr>
            <a:r>
              <a:t>本课程旨在帮助学员系统掌握核心知识与技能。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6A4F"/>
                </a:solidFill>
              </a:defRPr>
            </a:pPr>
            <a:r>
              <a:t>通过理论讲解与实践操作相结合的方式，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6A4F"/>
                </a:solidFill>
              </a:defRPr>
            </a:pPr>
            <a:r>
              <a:t>让学员能够在实际工作中灵活应用所学内容。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80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6A4F"/>
                </a:solidFill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6A4F"/>
                </a:solidFill>
              </a:defRPr>
            </a:pPr>
            <a:r>
              <a:t>课程时长: 4课时 (共180分钟)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20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6A4F"/>
                </a:solidFill>
              </a:defRPr>
            </a:pPr>
            <a:r>
              <a:t>难度级别: 中级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6A4F"/>
                </a:solidFill>
              </a:defRPr>
            </a:pPr>
            <a:r>
              <a:t>适用人群: 有基础的进阶学习者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1188720"/>
            <a:ext cx="292608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6A4F"/>
                </a:solidFill>
              </a:defRPr>
            </a:pPr>
            <a:r>
              <a:t>课程结构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2011680"/>
            <a:ext cx="2560320" cy="82296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21031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8DAB5"/>
                </a:solidFill>
              </a:defRPr>
            </a:pPr>
            <a:r>
              <a:t>第1课时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4231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基础概念与原理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3017520"/>
            <a:ext cx="2560320" cy="82296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3108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8DAB5"/>
                </a:solidFill>
              </a:defRPr>
            </a:pPr>
            <a:r>
              <a:t>第2课时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34290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核心知识点讲解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023360"/>
            <a:ext cx="2560320" cy="82296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4114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8DAB5"/>
                </a:solidFill>
              </a:defRPr>
            </a:pPr>
            <a:r>
              <a:t>第3课时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4434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案例分析与讨论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5029200"/>
            <a:ext cx="2560320" cy="82296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51206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8DAB5"/>
                </a:solidFill>
              </a:defRPr>
            </a:pPr>
            <a:r>
              <a:t>第4课时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5440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实践练习与总结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教学目标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237744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188720"/>
            <a:ext cx="2377440" cy="914400"/>
          </a:xfrm>
          <a:prstGeom prst="rect">
            <a:avLst/>
          </a:prstGeom>
          <a:solidFill>
            <a:srgbClr val="A8DAB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知识目标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6A4F"/>
                </a:solidFill>
              </a:defRPr>
            </a:pPr>
            <a:r>
              <a:t>  理解核心概念和基本原理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6A4F"/>
                </a:solidFill>
              </a:defRPr>
            </a:pPr>
            <a:r>
              <a:t>  掌握关键知识点的内在联系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004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6A4F"/>
                </a:solidFill>
              </a:defRPr>
            </a:pPr>
            <a:r>
              <a:t>  了解行业最新发展趋势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188720"/>
            <a:ext cx="237744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188720"/>
            <a:ext cx="2377440" cy="914400"/>
          </a:xfrm>
          <a:prstGeom prst="rect">
            <a:avLst/>
          </a:prstGeom>
          <a:solidFill>
            <a:srgbClr val="A8DAB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6459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能力目标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77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6A4F"/>
                </a:solidFill>
              </a:defRPr>
            </a:pPr>
            <a:r>
              <a:t>  能够独立分析和解决问题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788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6A4F"/>
                </a:solidFill>
              </a:defRPr>
            </a:pPr>
            <a:r>
              <a:t>  熟练运用所学工具和方法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2004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6A4F"/>
                </a:solidFill>
              </a:defRPr>
            </a:pPr>
            <a:r>
              <a:t>  具备实际项目操作能力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188720"/>
            <a:ext cx="237744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1188720"/>
            <a:ext cx="2377440" cy="914400"/>
          </a:xfrm>
          <a:prstGeom prst="rect">
            <a:avLst/>
          </a:prstGeom>
          <a:solidFill>
            <a:srgbClr val="A8DAB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16459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素养目标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377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6A4F"/>
                </a:solidFill>
              </a:defRPr>
            </a:pPr>
            <a:r>
              <a:t>  培养批判性思维能力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788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6A4F"/>
                </a:solidFill>
              </a:defRPr>
            </a:pPr>
            <a:r>
              <a:t>  提升团队协作与沟通能力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2004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6A4F"/>
                </a:solidFill>
              </a:defRPr>
            </a:pPr>
            <a:r>
              <a:t>  建立终身学习的意识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9144000" cy="1828800"/>
          </a:xfrm>
          <a:prstGeom prst="rect">
            <a:avLst/>
          </a:prstGeom>
          <a:solidFill>
            <a:srgbClr val="A8DAB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D6A4F"/>
                </a:solidFill>
              </a:defRPr>
            </a:pPr>
            <a:r>
              <a:t>知识点讲解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D6A4F"/>
                </a:solidFill>
              </a:defRPr>
            </a:pPr>
            <a:r>
              <a:t>Knowledge Points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知识点 - 第1部分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41148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6A4F"/>
                </a:solidFill>
              </a:defRPr>
            </a:pPr>
            <a:r>
              <a:t>基本定义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明确概念边界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84832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区分相似概念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40864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理解应用场景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188720"/>
            <a:ext cx="41148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54880" y="1371600"/>
            <a:ext cx="457200" cy="457200"/>
          </a:xfrm>
          <a:prstGeom prst="ellipse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6A4F"/>
                </a:solidFill>
              </a:defRPr>
            </a:pPr>
            <a:r>
              <a:t>理论基础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828800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经典理论回顾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084832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现代发展演变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340864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关键假设条件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知识点 - 第2部分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41148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6A4F"/>
                </a:solidFill>
              </a:defRPr>
            </a:pPr>
            <a:r>
              <a:t>原理一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核心逻辑链条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84832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数学推导过程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40864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直觉理解方法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188720"/>
            <a:ext cx="41148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54880" y="1371600"/>
            <a:ext cx="457200" cy="457200"/>
          </a:xfrm>
          <a:prstGeom prst="ellipse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6A4F"/>
                </a:solidFill>
              </a:defRPr>
            </a:pPr>
            <a:r>
              <a:t>原理二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828800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实际应用场景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084832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边界条件分析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340864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常见误区提醒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知识点 - 第3部分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41148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6A4F"/>
                </a:solidFill>
              </a:defRPr>
            </a:pPr>
            <a:r>
              <a:t>分析框架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系统性思考方法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84832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分类分级策略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40864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优先级排序技巧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188720"/>
            <a:ext cx="41148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54880" y="1371600"/>
            <a:ext cx="457200" cy="457200"/>
          </a:xfrm>
          <a:prstGeom prst="ellipse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6A4F"/>
                </a:solidFill>
              </a:defRPr>
            </a:pPr>
            <a:r>
              <a:t>工具使用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828800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常用工具介绍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084832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操作步骤演示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340864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最佳实践分享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知识点 - 第4部分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41148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6A4F"/>
                </a:solidFill>
              </a:defRPr>
            </a:pPr>
            <a:r>
              <a:t>常见问题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Top 10 高频问题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84832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解决方案模板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40864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避坑指南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188720"/>
            <a:ext cx="41148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54880" y="1371600"/>
            <a:ext cx="457200" cy="457200"/>
          </a:xfrm>
          <a:prstGeom prst="ellipse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6A4F"/>
                </a:solidFill>
              </a:defRPr>
            </a:pPr>
            <a:r>
              <a:t>效率提升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828800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快捷操作技巧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084832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自动化方案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340864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协同工作流程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知识点 - 第5部分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41148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6A4F"/>
                </a:solidFill>
              </a:defRPr>
            </a:pPr>
            <a:r>
              <a:t>深度分析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高级分析方法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84832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数据驱动决策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40864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模型构建技巧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188720"/>
            <a:ext cx="41148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54880" y="1371600"/>
            <a:ext cx="457200" cy="457200"/>
          </a:xfrm>
          <a:prstGeom prst="ellipse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6A4F"/>
                </a:solidFill>
              </a:defRPr>
            </a:pPr>
            <a:r>
              <a:t>行业应用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828800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跨行业案例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084832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定制化方案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340864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趋势预判方法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知识点 - 第6部分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41148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6A4F"/>
                </a:solidFill>
              </a:defRPr>
            </a:pPr>
            <a:r>
              <a:t>技术趋势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最新技术发展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84832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AI与自动化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40864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行业变革方向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188720"/>
            <a:ext cx="41148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54880" y="1371600"/>
            <a:ext cx="457200" cy="457200"/>
          </a:xfrm>
          <a:prstGeom prst="ellipse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6A4F"/>
                </a:solidFill>
              </a:defRPr>
            </a:pPr>
            <a:r>
              <a:t>最佳实践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828800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标杆企业经验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084832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创新实践案例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340864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未来发展方向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9144000" cy="1828800"/>
          </a:xfrm>
          <a:prstGeom prst="rect">
            <a:avLst/>
          </a:prstGeom>
          <a:solidFill>
            <a:srgbClr val="A8DAB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D6A4F"/>
                </a:solidFill>
              </a:defRPr>
            </a:pPr>
            <a:r>
              <a:t>案例与练习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D6A4F"/>
                </a:solidFill>
              </a:defRPr>
            </a:pPr>
            <a:r>
              <a:t>Cases &amp; Practice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案例分析 - 第1部分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8229600" cy="548640"/>
          </a:xfrm>
          <a:prstGeom prst="roundRect">
            <a:avLst/>
          </a:prstGeom>
          <a:solidFill>
            <a:srgbClr val="A8DAB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案例一: 某企业数字化转型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82296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103120"/>
            <a:ext cx="731520" cy="32004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8DAB5"/>
                </a:solidFill>
              </a:defRPr>
            </a:pPr>
            <a:r>
              <a:t>背景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14884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6A4F"/>
                </a:solidFill>
              </a:defRPr>
            </a:pPr>
            <a:r>
              <a:t>某传统制造企业面临效率低下、数据孤岛等问题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71800"/>
            <a:ext cx="82296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154680"/>
            <a:ext cx="731520" cy="32004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546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8DAB5"/>
                </a:solidFill>
              </a:defRPr>
            </a:pPr>
            <a:r>
              <a:t>方法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20040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6A4F"/>
                </a:solidFill>
              </a:defRPr>
            </a:pPr>
            <a:r>
              <a:t>采用分阶段数字化策略，先打通核心业务流程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023360"/>
            <a:ext cx="82296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4206240"/>
            <a:ext cx="731520" cy="32004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206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8DAB5"/>
                </a:solidFill>
              </a:defRPr>
            </a:pPr>
            <a:r>
              <a:t>成果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25196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6A4F"/>
                </a:solidFill>
              </a:defRPr>
            </a:pPr>
            <a:r>
              <a:t>生产效率提升35%，运营成本降低20%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12064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6A4F"/>
                </a:solidFill>
              </a:defRPr>
            </a:pPr>
            <a:r>
              <a:t>启示与思考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4864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6A4F"/>
                </a:solidFill>
              </a:defRPr>
            </a:pPr>
            <a:r>
              <a:t>高层支持是关键 | 先易后难的推进策略 | 数据治理是基础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案例分析 - 第2部分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8229600" cy="548640"/>
          </a:xfrm>
          <a:prstGeom prst="roundRect">
            <a:avLst/>
          </a:prstGeom>
          <a:solidFill>
            <a:srgbClr val="A8DAB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案例二: 某互联网产品增长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82296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103120"/>
            <a:ext cx="731520" cy="32004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8DAB5"/>
                </a:solidFill>
              </a:defRPr>
            </a:pPr>
            <a:r>
              <a:t>背景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14884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6A4F"/>
                </a:solidFill>
              </a:defRPr>
            </a:pPr>
            <a:r>
              <a:t>新产品上线后用户增长缓慢，留存率低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71800"/>
            <a:ext cx="82296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154680"/>
            <a:ext cx="731520" cy="32004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546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8DAB5"/>
                </a:solidFill>
              </a:defRPr>
            </a:pPr>
            <a:r>
              <a:t>方法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20040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6A4F"/>
                </a:solidFill>
              </a:defRPr>
            </a:pPr>
            <a:r>
              <a:t>通过A/B测试优化用户路径，个性化推荐提升体验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023360"/>
            <a:ext cx="82296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4206240"/>
            <a:ext cx="731520" cy="32004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206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8DAB5"/>
                </a:solidFill>
              </a:defRPr>
            </a:pPr>
            <a:r>
              <a:t>成果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25196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6A4F"/>
                </a:solidFill>
              </a:defRPr>
            </a:pPr>
            <a:r>
              <a:t>月活用户增长200%，次日留存提升15个百分点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12064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6A4F"/>
                </a:solidFill>
              </a:defRPr>
            </a:pPr>
            <a:r>
              <a:t>启示与思考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4864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6A4F"/>
                </a:solidFill>
              </a:defRPr>
            </a:pPr>
            <a:r>
              <a:t>数据驱动决策 | 快速迭代验证 | 用户反馈闭环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课堂练习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82296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6304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6A4F"/>
                </a:solidFill>
              </a:defRPr>
            </a:pPr>
            <a:r>
              <a:t>请根据本节课内容，画出核心概念的思维导图。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01168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6A4F"/>
                </a:solidFill>
              </a:defRPr>
            </a:pPr>
            <a:r>
              <a:t>提示: 从中心概念出发，至少延伸3个分支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80360"/>
            <a:ext cx="82296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1546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6A4F"/>
                </a:solidFill>
              </a:defRPr>
            </a:pPr>
            <a:r>
              <a:t>分析以下场景，运用所学方法提出解决方案。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70332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6A4F"/>
                </a:solidFill>
              </a:defRPr>
            </a:pPr>
            <a:r>
              <a:t>提示: 结合案例中的分析框架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572000"/>
            <a:ext cx="82296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4846320"/>
            <a:ext cx="457200" cy="457200"/>
          </a:xfrm>
          <a:prstGeom prst="ellipse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892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84632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6A4F"/>
                </a:solidFill>
              </a:defRPr>
            </a:pPr>
            <a:r>
              <a:t>小组讨论: 如何将本节课知识应用到实际工作中?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39496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6A4F"/>
                </a:solidFill>
              </a:defRPr>
            </a:pPr>
            <a:r>
              <a:t>提示: 每组15分钟讨论，5分钟汇报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943600"/>
            <a:ext cx="8229600" cy="64008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60350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6A4F"/>
                </a:solidFill>
              </a:defRPr>
            </a:pPr>
            <a:r>
              <a:t>注意: 请在练习本上完成，完成后与同桌交流讨论，教师将进行点评。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总结回顾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23774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08760" y="1463040"/>
            <a:ext cx="640080" cy="640080"/>
          </a:xfrm>
          <a:prstGeom prst="ellipse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53619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6A4F"/>
                </a:solidFill>
              </a:defRPr>
            </a:pPr>
            <a:r>
              <a:t>核心概念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6A4F"/>
                </a:solidFill>
              </a:defRPr>
            </a:pPr>
            <a:r>
              <a:t>掌握了基本定义和理论基础</a:t>
            </a:r>
            <a:br/>
            <a:r>
              <a:t>理解了概念之间的内在联系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188720"/>
            <a:ext cx="23774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51960" y="1463040"/>
            <a:ext cx="640080" cy="640080"/>
          </a:xfrm>
          <a:prstGeom prst="ellipse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153619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286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6A4F"/>
                </a:solidFill>
              </a:defRPr>
            </a:pPr>
            <a:r>
              <a:t>方法工具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8346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6A4F"/>
                </a:solidFill>
              </a:defRPr>
            </a:pPr>
            <a:r>
              <a:t>学会了分析框架和方法论</a:t>
            </a:r>
            <a:br/>
            <a:r>
              <a:t>掌握了常用工具的使用技巧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188720"/>
            <a:ext cx="23774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95160" y="1463040"/>
            <a:ext cx="640080" cy="640080"/>
          </a:xfrm>
          <a:prstGeom prst="ellipse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5160" y="153619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286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6A4F"/>
                </a:solidFill>
              </a:defRPr>
            </a:pPr>
            <a:r>
              <a:t>实践应用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8346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6A4F"/>
                </a:solidFill>
              </a:defRPr>
            </a:pPr>
            <a:r>
              <a:t>通过案例加深了理解</a:t>
            </a:r>
            <a:br/>
            <a:r>
              <a:t>为实际工作打下了基础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754880"/>
            <a:ext cx="82296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84632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6A4F"/>
                </a:solidFill>
              </a:defRPr>
            </a:pPr>
            <a:r>
              <a:t>课后任务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0352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6A4F"/>
                </a:solidFill>
              </a:defRPr>
            </a:pPr>
            <a:r>
              <a:t>1. 复习本节课知识点，整理课堂笔记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62356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6A4F"/>
                </a:solidFill>
              </a:defRPr>
            </a:pPr>
            <a:r>
              <a:t>2. 完成课后练习题 (教材 P45-P48)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94360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6A4F"/>
                </a:solidFill>
              </a:defRPr>
            </a:pPr>
            <a:r>
              <a:t>3. 预习下节课内容: 高级应用与实战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2D6A4F"/>
              </a:gs>
              <a:gs pos="100000">
                <a:srgbClr val="52B7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1C784"/>
                </a:solidFill>
              </a:defRPr>
            </a:pPr>
            <a:r>
              <a:t>感谢聆听 祝学习愉快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017520"/>
            <a:ext cx="1828800" cy="254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
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 rot="900000">
            <a:off x="457200" y="274320"/>
            <a:ext cx="2286000" cy="2286000"/>
          </a:xfrm>
          <a:prstGeom prst="diamond">
            <a:avLst/>
          </a:prstGeom>
          <a:solidFill>
            <a:srgbClr val="90E0EF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943600" y="457200"/>
            <a:ext cx="1828800" cy="1828800"/>
          </a:xfrm>
          <a:prstGeom prst="diamond">
            <a:avLst/>
          </a:prstGeom>
          <a:solidFill>
            <a:srgbClr val="0077B6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 rot="-600000">
            <a:off x="6400800" y="4114800"/>
            <a:ext cx="2560320" cy="2560320"/>
          </a:xfrm>
          <a:prstGeom prst="diamond">
            <a:avLst/>
          </a:prstGeom>
          <a:solidFill>
            <a:srgbClr val="0077B6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 rot="1800000">
            <a:off x="731520" y="4572000"/>
            <a:ext cx="1645920" cy="1645920"/>
          </a:xfrm>
          <a:prstGeom prst="diamond">
            <a:avLst/>
          </a:prstGeom>
          <a:solidFill>
            <a:srgbClr val="90E0EF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 rot="2700000">
            <a:off x="3657600" y="5029200"/>
            <a:ext cx="1371600" cy="1371600"/>
          </a:xfrm>
          <a:prstGeom prst="diamond">
            <a:avLst/>
          </a:prstGeom>
          <a:solidFill>
            <a:srgbClr val="0077B6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2148840"/>
            <a:ext cx="5486400" cy="2560320"/>
          </a:xfrm>
          <a:prstGeom prst="round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2860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Product Launch Demo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3429000"/>
            <a:ext cx="2286000" cy="25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6576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EFB"/>
                </a:solidFill>
              </a:defRPr>
            </a:pPr>
            <a:r>
              <a:t>PPT Template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 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8288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8288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0E0E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痛点分析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371600"/>
            <a:ext cx="18288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40" y="1371600"/>
            <a:ext cx="18288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0E0E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解决方案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371600"/>
            <a:ext cx="18288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1371600"/>
            <a:ext cx="18288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0E0EF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产品功能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1371600"/>
            <a:ext cx="18288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12280" y="1371600"/>
            <a:ext cx="18288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0E0EF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产品演示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880360"/>
            <a:ext cx="18288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880360"/>
            <a:ext cx="18288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0E0EF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用户案例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06040" y="2880360"/>
            <a:ext cx="18288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06040" y="2880360"/>
            <a:ext cx="18288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0E0EF"/>
                </a:solidFill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价格方案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9160" y="2880360"/>
            <a:ext cx="18288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09160" y="2880360"/>
            <a:ext cx="18288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0E0EF"/>
                </a:solidFill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竞品对比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2280" y="2880360"/>
            <a:ext cx="18288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12280" y="2880360"/>
            <a:ext cx="18288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0E0EF"/>
                </a:solidFill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发布计划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90E0E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7B6"/>
                </a:solidFill>
              </a:defRPr>
            </a:pPr>
            <a:r>
              <a:t>痛点分析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77B6"/>
                </a:solidFill>
              </a:defRPr>
            </a:pPr>
            <a:r>
              <a:t>Pain 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痛点分析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8404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" cy="21945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F4433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4336"/>
                </a:solidFill>
              </a:defRPr>
            </a:pPr>
            <a:r>
              <a:t>效率低下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7B6"/>
                </a:solidFill>
              </a:defRPr>
            </a:pPr>
            <a:r>
              <a:t>传统工作流程繁琐</a:t>
            </a:r>
            <a:br/>
            <a:r>
              <a:t>重复性操作占用大量时间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371600"/>
            <a:ext cx="38404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1371600"/>
            <a:ext cx="54864" cy="21945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9200" y="1645920"/>
            <a:ext cx="548640" cy="548640"/>
          </a:xfrm>
          <a:prstGeom prst="ellipse">
            <a:avLst/>
          </a:prstGeom>
          <a:solidFill>
            <a:srgbClr val="F4433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4336"/>
                </a:solidFill>
              </a:defRPr>
            </a:pPr>
            <a:r>
              <a:t>成本高昂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377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7B6"/>
                </a:solidFill>
              </a:defRPr>
            </a:pPr>
            <a:r>
              <a:t>人力成本持续攀升</a:t>
            </a:r>
            <a:br/>
            <a:r>
              <a:t>IT运维费用居高不下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38404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54864" cy="21945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F4433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114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4336"/>
                </a:solidFill>
              </a:defRPr>
            </a:pPr>
            <a:r>
              <a:t>数据孤岛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46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7B6"/>
                </a:solidFill>
              </a:defRPr>
            </a:pPr>
            <a:r>
              <a:t>各部门数据不互通</a:t>
            </a:r>
            <a:br/>
            <a:r>
              <a:t>决策缺乏全局视角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840480"/>
            <a:ext cx="38404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3840480"/>
            <a:ext cx="54864" cy="21945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0" y="4114800"/>
            <a:ext cx="548640" cy="548640"/>
          </a:xfrm>
          <a:prstGeom prst="ellipse">
            <a:avLst/>
          </a:prstGeom>
          <a:solidFill>
            <a:srgbClr val="F4433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114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4336"/>
                </a:solidFill>
              </a:defRPr>
            </a:pPr>
            <a:r>
              <a:t>体验差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846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7B6"/>
                </a:solidFill>
              </a:defRPr>
            </a:pPr>
            <a:r>
              <a:t>界面复杂难用</a:t>
            </a:r>
            <a:br/>
            <a:r>
              <a:t>学习成本过高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解决方案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23774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2377440" cy="109728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7B6"/>
                </a:solidFill>
              </a:defRPr>
            </a:pPr>
            <a:r>
              <a:t>AI智能引擎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7B6"/>
                </a:solidFill>
              </a:defRPr>
            </a:pPr>
            <a:r>
              <a:t>基于深度学习的</a:t>
            </a:r>
            <a:br/>
            <a:r>
              <a:t>智能分析与决策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3774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280160"/>
            <a:ext cx="2377440" cy="109728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7B6"/>
                </a:solidFill>
              </a:defRPr>
            </a:pPr>
            <a:r>
              <a:t>一体化平台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2918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7B6"/>
                </a:solidFill>
              </a:defRPr>
            </a:pPr>
            <a:r>
              <a:t>打通数据孤岛</a:t>
            </a:r>
            <a:br/>
            <a:r>
              <a:t>统一管理入口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280160"/>
            <a:ext cx="23774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280160"/>
            <a:ext cx="2377440" cy="109728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7B6"/>
                </a:solidFill>
              </a:defRPr>
            </a:pPr>
            <a:r>
              <a:t>极简设计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918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7B6"/>
                </a:solidFill>
              </a:defRPr>
            </a:pPr>
            <a:r>
              <a:t>零学习成本</a:t>
            </a:r>
            <a:br/>
            <a:r>
              <a:t>所见即所得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90E0E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7B6"/>
                </a:solidFill>
              </a:defRPr>
            </a:pPr>
            <a:r>
              <a:t>产品功能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77B6"/>
                </a:solidFill>
              </a:defRPr>
            </a:pPr>
            <a:r>
              <a:t>Product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产品功能 - 第1部分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840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B6"/>
                </a:solidFill>
              </a:defRPr>
            </a:pPr>
            <a:r>
              <a:t>智能数据分析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2024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一键生成可视化报表</a:t>
            </a:r>
            <a:br/>
            <a:r>
              <a:t>AI自动发现数据洞察</a:t>
            </a:r>
            <a:br/>
            <a:r>
              <a:t>支持自定义仪表盘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371600"/>
            <a:ext cx="3840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83480" y="1554480"/>
            <a:ext cx="640080" cy="6400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6276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B6"/>
                </a:solidFill>
              </a:defRPr>
            </a:pPr>
            <a:r>
              <a:t>自动化工作流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92024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拖拽式流程编排</a:t>
            </a:r>
            <a:br/>
            <a:r>
              <a:t>支持500+自动化规则</a:t>
            </a:r>
            <a:br/>
            <a:r>
              <a:t>跨系统数据同步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产品功能 - 第2部分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840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B6"/>
                </a:solidFill>
              </a:defRPr>
            </a:pPr>
            <a:r>
              <a:t>团队协作中心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2024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实时多人协作编辑</a:t>
            </a:r>
            <a:br/>
            <a:r>
              <a:t>评论与审批流程</a:t>
            </a:r>
            <a:br/>
            <a:r>
              <a:t>任务分配与追踪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371600"/>
            <a:ext cx="3840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83480" y="1554480"/>
            <a:ext cx="640080" cy="6400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6276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B6"/>
                </a:solidFill>
              </a:defRPr>
            </a:pPr>
            <a:r>
              <a:t>安全与合规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92024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企业级数据加密</a:t>
            </a:r>
            <a:br/>
            <a:r>
              <a:t>权限精细控制</a:t>
            </a:r>
            <a:br/>
            <a:r>
              <a:t>GDPR合规保障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产品功能 - 第3部分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840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B6"/>
                </a:solidFill>
              </a:defRPr>
            </a:pPr>
            <a:r>
              <a:t>API开放平台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2024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RESTful API接口</a:t>
            </a:r>
            <a:br/>
            <a:r>
              <a:t>Webhook事件通知</a:t>
            </a:r>
            <a:br/>
            <a:r>
              <a:t>开发者友好文档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371600"/>
            <a:ext cx="3840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83480" y="1554480"/>
            <a:ext cx="640080" cy="6400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6276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B6"/>
                </a:solidFill>
              </a:defRPr>
            </a:pPr>
            <a:r>
              <a:t>移动端体验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92024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原生iOS/Android应用</a:t>
            </a:r>
            <a:br/>
            <a:r>
              <a:t>离线数据同步</a:t>
            </a:r>
            <a:br/>
            <a:r>
              <a:t>推送实时通知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产品功能 - 第4部分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840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B6"/>
                </a:solidFill>
              </a:defRPr>
            </a:pPr>
            <a:r>
              <a:t>智能推荐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2024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个性化内容推荐</a:t>
            </a:r>
            <a:br/>
            <a:r>
              <a:t>用户行为预测</a:t>
            </a:r>
            <a:br/>
            <a:r>
              <a:t>A/B测试支持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371600"/>
            <a:ext cx="3840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83480" y="1554480"/>
            <a:ext cx="640080" cy="6400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6276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B6"/>
                </a:solidFill>
              </a:defRPr>
            </a:pPr>
            <a:r>
              <a:t>多语言支持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92024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支持12种语言</a:t>
            </a:r>
            <a:br/>
            <a:r>
              <a:t>本地化适配</a:t>
            </a:r>
            <a:br/>
            <a:r>
              <a:t>文化敏感性处理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90E0E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7B6"/>
                </a:solidFill>
              </a:defRPr>
            </a:pPr>
            <a:r>
              <a:t>产品演示与案例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77B6"/>
                </a:solidFill>
              </a:defRPr>
            </a:pPr>
            <a:r>
              <a:t>Demo &amp; Cases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产品演示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7498080" cy="4297680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1444752"/>
            <a:ext cx="182880" cy="18288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444752"/>
            <a:ext cx="182880" cy="18288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5920" y="1444752"/>
            <a:ext cx="182880" cy="18288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737360"/>
            <a:ext cx="1371600" cy="3749040"/>
          </a:xfrm>
          <a:prstGeom prst="rect">
            <a:avLst/>
          </a:prstGeom>
          <a:solidFill>
            <a:srgbClr val="0077B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B6"/>
                </a:solidFill>
              </a:defRPr>
            </a:pPr>
            <a:r>
              <a:t>产品演示界面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468880"/>
            <a:ext cx="32004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7B6"/>
                </a:solidFill>
              </a:defRPr>
            </a:pPr>
            <a:r>
              <a:t>数据可视化区域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920240"/>
            <a:ext cx="182880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7B6"/>
                </a:solidFill>
              </a:defRPr>
            </a:pPr>
            <a:r>
              <a:t>实时数据处理 | 智能分析 | 一键导出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用户案例 - 第1部分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7772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54864" cy="201168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B6"/>
                </a:solidFill>
              </a:defRPr>
            </a:pPr>
            <a:r>
              <a:t>某大型制造企业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103120"/>
            <a:ext cx="1097280" cy="27432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0E0EF"/>
                </a:solidFill>
              </a:defRPr>
            </a:pPr>
            <a:r>
              <a:t>制造业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7B6"/>
                </a:solidFill>
              </a:defRPr>
            </a:pPr>
            <a:r>
              <a:t>通过自动化工作流，将生产排程时间从3天缩短到4小时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737360"/>
            <a:ext cx="2286000" cy="1280160"/>
          </a:xfrm>
          <a:prstGeom prst="roundRect">
            <a:avLst/>
          </a:prstGeom>
          <a:solidFill>
            <a:srgbClr val="90E0E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效率提升 40%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49040"/>
            <a:ext cx="7772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749040"/>
            <a:ext cx="54864" cy="201168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B6"/>
                </a:solidFill>
              </a:defRPr>
            </a:pPr>
            <a:r>
              <a:t>某互联网公司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80560"/>
            <a:ext cx="1097280" cy="27432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0E0EF"/>
                </a:solidFill>
              </a:defRPr>
            </a:pPr>
            <a:r>
              <a:t>互联网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377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7B6"/>
                </a:solidFill>
              </a:defRPr>
            </a:pPr>
            <a:r>
              <a:t>统一数据平台，消除重复数据处理，节省人力成本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114800"/>
            <a:ext cx="2286000" cy="1280160"/>
          </a:xfrm>
          <a:prstGeom prst="roundRect">
            <a:avLst/>
          </a:prstGeom>
          <a:solidFill>
            <a:srgbClr val="90E0E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成本降低 30%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用户案例 - 第2部分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7772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54864" cy="201168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B6"/>
                </a:solidFill>
              </a:defRPr>
            </a:pPr>
            <a:r>
              <a:t>某金融机构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103120"/>
            <a:ext cx="1097280" cy="27432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0E0EF"/>
                </a:solidFill>
              </a:defRPr>
            </a:pPr>
            <a:r>
              <a:t>金融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7B6"/>
                </a:solidFill>
              </a:defRPr>
            </a:pPr>
            <a:r>
              <a:t>AI实时数据分析，帮助管理层快速做出投资决策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737360"/>
            <a:ext cx="2286000" cy="1280160"/>
          </a:xfrm>
          <a:prstGeom prst="roundRect">
            <a:avLst/>
          </a:prstGeom>
          <a:solidFill>
            <a:srgbClr val="90E0E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决策提速 50%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49040"/>
            <a:ext cx="7772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749040"/>
            <a:ext cx="54864" cy="201168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B6"/>
                </a:solidFill>
              </a:defRPr>
            </a:pPr>
            <a:r>
              <a:t>某零售集团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80560"/>
            <a:ext cx="1097280" cy="27432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0E0EF"/>
                </a:solidFill>
              </a:defRPr>
            </a:pPr>
            <a:r>
              <a:t>零售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377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7B6"/>
                </a:solidFill>
              </a:defRPr>
            </a:pPr>
            <a:r>
              <a:t>精准用户画像+个性化推荐，提升转化率和复购率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114800"/>
            <a:ext cx="2286000" cy="1280160"/>
          </a:xfrm>
          <a:prstGeom prst="roundRect">
            <a:avLst/>
          </a:prstGeom>
          <a:solidFill>
            <a:srgbClr val="90E0E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营收增长 25%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90E0E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7B6"/>
                </a:solidFill>
              </a:defRPr>
            </a:pPr>
            <a:r>
              <a:t>商务合作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77B6"/>
                </a:solidFill>
              </a:defRPr>
            </a:pPr>
            <a:r>
              <a:t>Business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价格方案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23774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7B6"/>
                </a:solidFill>
              </a:defRPr>
            </a:pPr>
            <a:r>
              <a:t>基础版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7B6"/>
                </a:solidFill>
              </a:defRPr>
            </a:pPr>
            <a:r>
              <a:t>免费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1828800" cy="127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5个用户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10GB存储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基础分析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邮件支持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188720"/>
            <a:ext cx="237744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005840"/>
            <a:ext cx="914400" cy="32004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005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推荐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7B6"/>
                </a:solidFill>
              </a:defRPr>
            </a:pPr>
            <a:r>
              <a:t>专业版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90E0EF"/>
                </a:solidFill>
              </a:defRPr>
            </a:pPr>
            <a:r>
              <a:t>299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元/月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834640"/>
            <a:ext cx="1828800" cy="127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50个用户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100GB存储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高级分析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优先支持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1188720"/>
            <a:ext cx="23774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7B6"/>
                </a:solidFill>
              </a:defRPr>
            </a:pPr>
            <a:r>
              <a:t>企业版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7B6"/>
                </a:solidFill>
              </a:defRPr>
            </a:pPr>
            <a:r>
              <a:t>联系我们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834640"/>
            <a:ext cx="1828800" cy="127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不限用户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无限存储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定制功能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专属顾问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竞品对比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828800" cy="4572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功能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280160"/>
            <a:ext cx="2103120" cy="4572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280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我们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280160"/>
            <a:ext cx="2103120" cy="4572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280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竞品A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280160"/>
            <a:ext cx="2103120" cy="4572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280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竞品B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37360"/>
            <a:ext cx="182880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77B6"/>
                </a:solidFill>
              </a:defRPr>
            </a:pPr>
            <a:r>
              <a:t>AI分析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1737360"/>
            <a:ext cx="210312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内置AI引擎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1737360"/>
            <a:ext cx="210312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需额外付费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737360"/>
            <a:ext cx="210312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24028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77B6"/>
                </a:solidFill>
              </a:defRPr>
            </a:pPr>
            <a:r>
              <a:t>协作功能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2240280"/>
            <a:ext cx="2103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2240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实时协作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2240280"/>
            <a:ext cx="2103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2240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基础协作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240280"/>
            <a:ext cx="2103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240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743200"/>
            <a:ext cx="182880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77B6"/>
                </a:solidFill>
              </a:defRPr>
            </a:pPr>
            <a:r>
              <a:t>API开放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2743200"/>
            <a:ext cx="210312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完全开放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2743200"/>
            <a:ext cx="210312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部分开放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2743200"/>
            <a:ext cx="210312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不支持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24612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246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77B6"/>
                </a:solidFill>
              </a:defRPr>
            </a:pPr>
            <a:r>
              <a:t>数据安全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3246120"/>
            <a:ext cx="2103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77440" y="3246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企业级加密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0" y="3246120"/>
            <a:ext cx="2103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3246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基础加密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3246120"/>
            <a:ext cx="2103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3246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标准加密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749040"/>
            <a:ext cx="182880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749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77B6"/>
                </a:solidFill>
              </a:defRPr>
            </a:pPr>
            <a:r>
              <a:t>价格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0" y="3749040"/>
            <a:ext cx="210312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77440" y="3749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更具竞争力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60" y="3749040"/>
            <a:ext cx="210312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80560" y="3749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偏高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3749040"/>
            <a:ext cx="210312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3749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较低但功能少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90E0E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7B6"/>
                </a:solidFill>
              </a:defRPr>
            </a:pPr>
            <a:r>
              <a:t>发布计划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77B6"/>
                </a:solidFill>
              </a:defRPr>
            </a:pPr>
            <a:r>
              <a:t>Launch Plan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发布计划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7680960" cy="381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2971800"/>
            <a:ext cx="457200" cy="45720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188720"/>
            <a:ext cx="22860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80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0E0EF"/>
                </a:solidFill>
              </a:defRPr>
            </a:pPr>
            <a:r>
              <a:t>2025 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内测阶段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7B6"/>
                </a:solidFill>
              </a:defRPr>
            </a:pPr>
            <a:r>
              <a:t>核心功能开发</a:t>
            </a:r>
            <a:br/>
            <a:r>
              <a:t>种子用户邀请</a:t>
            </a:r>
            <a:br/>
            <a:r>
              <a:t>Bug修复优化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971800"/>
            <a:ext cx="457200" cy="45720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749040"/>
            <a:ext cx="22860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0E0EF"/>
                </a:solidFill>
              </a:defRPr>
            </a:pPr>
            <a:r>
              <a:t>2025 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公测阶段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7B6"/>
                </a:solidFill>
              </a:defRPr>
            </a:pPr>
            <a:r>
              <a:t>开放注册</a:t>
            </a:r>
            <a:br/>
            <a:r>
              <a:t>功能完善</a:t>
            </a:r>
            <a:br/>
            <a:r>
              <a:t>用户反馈收集</a:t>
            </a:r>
          </a:p>
        </p:txBody>
      </p:sp>
      <p:sp>
        <p:nvSpPr>
          <p:cNvPr id="18" name="Oval 17"/>
          <p:cNvSpPr/>
          <p:nvPr/>
        </p:nvSpPr>
        <p:spPr>
          <a:xfrm>
            <a:off x="6995160" y="2971800"/>
            <a:ext cx="457200" cy="45720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1188720"/>
            <a:ext cx="22860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1280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0E0EF"/>
                </a:solidFill>
              </a:defRPr>
            </a:pPr>
            <a:r>
              <a:t>2026 Q1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正式发布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20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7B6"/>
                </a:solidFill>
              </a:defRPr>
            </a:pPr>
            <a:r>
              <a:t>全渠道推广</a:t>
            </a:r>
            <a:br/>
            <a:r>
              <a:t>合作伙伴对接</a:t>
            </a:r>
            <a:br/>
            <a:r>
              <a:t>规模化运营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EFB"/>
                </a:solidFill>
              </a:defRPr>
            </a:pPr>
            <a:r>
              <a:t>全新产品，即将上线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971800"/>
            <a:ext cx="1828800" cy="25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B5F6"/>
                </a:solidFill>
              </a:defRPr>
            </a:pPr>
            <a:r>
              <a:t>敬请期待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
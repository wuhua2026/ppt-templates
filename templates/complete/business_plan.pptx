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457200" y="274320"/>
            <a:ext cx="2743200" cy="2743200"/>
          </a:xfrm>
          <a:prstGeom prst="rect">
            <a:avLst/>
          </a:prstGeom>
          <a:solidFill>
            <a:srgbClr val="00B4D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0" y="91440"/>
            <a:ext cx="2286000" cy="2286000"/>
          </a:xfrm>
          <a:prstGeom prst="diamond">
            <a:avLst/>
          </a:prstGeom>
          <a:solidFill>
            <a:srgbClr val="0066C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5943600" y="3657600"/>
            <a:ext cx="2560320" cy="2560320"/>
          </a:xfrm>
          <a:prstGeom prst="rect">
            <a:avLst/>
          </a:prstGeom>
          <a:solidFill>
            <a:srgbClr val="0066C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914400" y="4114800"/>
            <a:ext cx="2011680" cy="2011680"/>
          </a:xfrm>
          <a:prstGeom prst="diamond">
            <a:avLst/>
          </a:prstGeom>
          <a:solidFill>
            <a:srgbClr val="00B4D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200400" y="4572000"/>
            <a:ext cx="2286000" cy="2286000"/>
          </a:xfrm>
          <a:prstGeom prst="rect">
            <a:avLst/>
          </a:prstGeom>
          <a:solidFill>
            <a:srgbClr val="0066C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Business Plan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520440"/>
            <a:ext cx="2286000" cy="254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CAE9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目 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" y="14630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" y="14630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722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市场分析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3180" y="14630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3180" y="14630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6606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606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898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团队介绍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2020" y="14630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2020" y="14630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490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490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782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产品服务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0860" y="14630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80860" y="14630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6374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374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666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商业模式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" y="30632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" y="3063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7220" y="3246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竞争分析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83180" y="30632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83180" y="3063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66060" y="3246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6606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898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财务预测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2020" y="30632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32020" y="3063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14900" y="3246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490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782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融资计划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0860" y="30632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80860" y="3063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63740" y="3246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6374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666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发展路线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00B4D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市场分析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66CC"/>
                </a:solidFill>
              </a:defRPr>
            </a:pPr>
            <a:r>
              <a:t>Market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市场分析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680960" cy="320040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行业概览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全球市场规模持续增长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年复合增长率 15%+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数字化转型加速推进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政策环境利好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100亿+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市场规模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年增长率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5000万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目标用户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市场分析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680960" cy="320040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目标市场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一线及新一线城市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25-45岁核心用户群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B端企业客户为主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C端高端消费者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100亿+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市场规模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年增长率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5000万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目标用户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市场分析 - 第3部分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680960" cy="320040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用户需求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效率提升需求强烈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个性化定制趋势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一站式解决方案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数据安全与隐私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100亿+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市场规模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年增长率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5000万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目标用户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团队介绍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645920"/>
            <a:ext cx="914400" cy="914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张三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10年行业经验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63240" y="1645920"/>
            <a:ext cx="914400" cy="914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783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李四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t>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技术架构专家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66360" y="1645920"/>
            <a:ext cx="914400" cy="914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783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王五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t>CMO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品牌营销资深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69480" y="1645920"/>
            <a:ext cx="914400" cy="914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783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赵六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t>CFO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金融投资背景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产品服务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智能分析平台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AI驱动的数据分析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云服务解决方案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弹性可扩展架构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951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移动应用套件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全场景覆盖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CC"/>
                </a:solidFill>
              </a:defRPr>
            </a:pPr>
            <a:r>
              <a:t>核心产品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产品服务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技术咨询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定制化技术方案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运维支持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7x24小时保障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951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培训赋能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知识转移与培养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CC"/>
                </a:solidFill>
              </a:defRPr>
            </a:pPr>
            <a:r>
              <a:t>服务体系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商业模式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8288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SaaS订阅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按月/年收费</a:t>
            </a:r>
            <a:br/>
            <a:r>
              <a:t>灵活定价方案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463040"/>
            <a:ext cx="18288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增值服务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08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高级功能</a:t>
            </a:r>
            <a:br/>
            <a:r>
              <a:t>定制开发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463040"/>
            <a:ext cx="18288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数据服务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08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行业洞察</a:t>
            </a:r>
            <a:br/>
            <a:r>
              <a:t>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463040"/>
            <a:ext cx="18288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生态合作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08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渠道分成</a:t>
            </a:r>
            <a:br/>
            <a:r>
              <a:t>联合推广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竞争分析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645920" cy="457200"/>
          </a:xfrm>
          <a:prstGeom prst="rect">
            <a:avLst/>
          </a:prstGeom>
          <a:solidFill>
            <a:srgbClr val="0066C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371600"/>
            <a:ext cx="2194560" cy="4572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我方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2194560" cy="4572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竞品A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2194560" cy="4572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竞品B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645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技术实力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82880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领先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中等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82880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中等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市场份额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33172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快速增长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33172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稳定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33172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下降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用户体验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83464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优秀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83464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良好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83464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一般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3756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价格策略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33756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0312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灵活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333756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偏高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低价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840480"/>
            <a:ext cx="1645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创新能力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384048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0312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384048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一般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00B4D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财务预测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66CC"/>
                </a:solidFill>
              </a:defRPr>
            </a:pPr>
            <a:r>
              <a:t>Financial Forecast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财务预测 - 第1部分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</a:defRPr>
            </a:pPr>
            <a:r>
              <a:t>收入预测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500万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-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2000万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300%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8000万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300%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财务预测 - 第2部分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</a:defRPr>
            </a:pPr>
            <a:r>
              <a:t>成本结构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研发投入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800万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市场推广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500万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运营成本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400万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财务预测 - 第3部分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</a:defRPr>
            </a:pPr>
            <a:r>
              <a:t>盈利预测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-300万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-60%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200万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10%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3000万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37.5%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融资计划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737360"/>
            <a:ext cx="1097280" cy="10972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天使轮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用途: 产品研发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时间: 2025 Q1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23360" y="1737360"/>
            <a:ext cx="1097280" cy="10972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965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2000万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Pre-A轮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用途: 市场拓展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49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时间: 2025 Q4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1737360"/>
            <a:ext cx="1097280" cy="10972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965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8000万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A轮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用途: 规模化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49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时间: 2026 Q3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发展路线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768096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971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2025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产品立项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完成核心团队组建</a:t>
            </a:r>
            <a:br/>
            <a:r>
              <a:t>启动产品研发</a:t>
            </a:r>
          </a:p>
        </p:txBody>
      </p:sp>
      <p:sp>
        <p:nvSpPr>
          <p:cNvPr id="12" name="Oval 11"/>
          <p:cNvSpPr/>
          <p:nvPr/>
        </p:nvSpPr>
        <p:spPr>
          <a:xfrm>
            <a:off x="3291840" y="2971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74904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2025 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产品上线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MVP发布</a:t>
            </a:r>
            <a:br/>
            <a:r>
              <a:t>获取种子用户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971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11887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2026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市场拓展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规模化推广</a:t>
            </a:r>
            <a:br/>
            <a:r>
              <a:t>建立渠道合作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0" y="2971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74904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2026 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行业领先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市场份额前三</a:t>
            </a:r>
            <a:br/>
            <a:r>
              <a:t>启动B轮融资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5CAE9"/>
                </a:solidFill>
              </a:defRPr>
            </a:pPr>
            <a:r>
              <a:t>感谢您的聆听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46120"/>
            <a:ext cx="1828800" cy="254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
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7B2FBE"/>
              </a:gs>
              <a:gs pos="100000">
                <a:srgbClr val="E040F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1800" y="1828800"/>
            <a:ext cx="3200400" cy="3200400"/>
          </a:xfrm>
          <a:prstGeom prst="ellipse">
            <a:avLst/>
          </a:prstGeom>
          <a:solidFill>
            <a:srgbClr val="A882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29000" y="2286000"/>
            <a:ext cx="2286000" cy="2286000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60920" y="3291840"/>
            <a:ext cx="274320" cy="274320"/>
          </a:xfrm>
          <a:prstGeom prst="ellipse">
            <a:avLst/>
          </a:prstGeom>
          <a:solidFill>
            <a:srgbClr val="7B2FBE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03891" y="5360891"/>
            <a:ext cx="274320" cy="274320"/>
          </a:xfrm>
          <a:prstGeom prst="ellipse">
            <a:avLst/>
          </a:prstGeom>
          <a:solidFill>
            <a:srgbClr val="7B2FBE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434840" y="6217920"/>
            <a:ext cx="274320" cy="274320"/>
          </a:xfrm>
          <a:prstGeom prst="ellipse">
            <a:avLst/>
          </a:prstGeom>
          <a:solidFill>
            <a:srgbClr val="7B2FBE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365788" y="5360891"/>
            <a:ext cx="274320" cy="274320"/>
          </a:xfrm>
          <a:prstGeom prst="ellipse">
            <a:avLst/>
          </a:prstGeom>
          <a:solidFill>
            <a:srgbClr val="7B2FBE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8760" y="3291840"/>
            <a:ext cx="274320" cy="274320"/>
          </a:xfrm>
          <a:prstGeom prst="ellipse">
            <a:avLst/>
          </a:prstGeom>
          <a:solidFill>
            <a:srgbClr val="7B2FBE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365788" y="1222788"/>
            <a:ext cx="274320" cy="274320"/>
          </a:xfrm>
          <a:prstGeom prst="ellipse">
            <a:avLst/>
          </a:prstGeom>
          <a:solidFill>
            <a:srgbClr val="7B2FBE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34839" y="365760"/>
            <a:ext cx="274320" cy="274320"/>
          </a:xfrm>
          <a:prstGeom prst="ellipse">
            <a:avLst/>
          </a:prstGeom>
          <a:solidFill>
            <a:srgbClr val="7B2FBE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03891" y="1222788"/>
            <a:ext cx="274320" cy="274320"/>
          </a:xfrm>
          <a:prstGeom prst="ellipse">
            <a:avLst/>
          </a:prstGeom>
          <a:solidFill>
            <a:srgbClr val="7B2FBE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37744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Career Planning Demo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3520440"/>
            <a:ext cx="1828800" cy="25400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749039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E93D8"/>
                </a:solidFill>
              </a:defRPr>
            </a:pPr>
            <a:r>
              <a:t>PPT Template Library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目 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" y="1463040"/>
            <a:ext cx="20116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" y="1463040"/>
            <a:ext cx="2011680" cy="54864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1460" y="1645920"/>
            <a:ext cx="411480" cy="411480"/>
          </a:xfrm>
          <a:prstGeom prst="ellipse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" y="1645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" y="1645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2FBE"/>
                </a:solidFill>
              </a:defRPr>
            </a:pPr>
            <a:r>
              <a:t>自我认知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00300" y="1463040"/>
            <a:ext cx="20116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00300" y="1463040"/>
            <a:ext cx="2011680" cy="54864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83180" y="1645920"/>
            <a:ext cx="411480" cy="411480"/>
          </a:xfrm>
          <a:prstGeom prst="ellipse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83180" y="1645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6100" y="1645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2FBE"/>
                </a:solidFill>
              </a:defRPr>
            </a:pPr>
            <a:r>
              <a:t>职业探索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32020" y="1463040"/>
            <a:ext cx="20116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32020" y="1463040"/>
            <a:ext cx="2011680" cy="54864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914900" y="1645920"/>
            <a:ext cx="411480" cy="411480"/>
          </a:xfrm>
          <a:prstGeom prst="ellipse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4900" y="1645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7820" y="1645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2FBE"/>
                </a:solidFill>
              </a:defRPr>
            </a:pPr>
            <a:r>
              <a:t>目标设定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63740" y="1463040"/>
            <a:ext cx="20116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63740" y="1463040"/>
            <a:ext cx="2011680" cy="54864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46620" y="1645920"/>
            <a:ext cx="411480" cy="411480"/>
          </a:xfrm>
          <a:prstGeom prst="ellipse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46620" y="1645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9540" y="1645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2FBE"/>
                </a:solidFill>
              </a:defRPr>
            </a:pPr>
            <a:r>
              <a:t>能力提升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" y="3154680"/>
            <a:ext cx="20116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" y="3154680"/>
            <a:ext cx="2011680" cy="54864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1460" y="3337560"/>
            <a:ext cx="411480" cy="411480"/>
          </a:xfrm>
          <a:prstGeom prst="ellipse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" y="3337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" y="33375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2FBE"/>
                </a:solidFill>
              </a:defRPr>
            </a:pPr>
            <a:r>
              <a:t>实践经历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00300" y="3154680"/>
            <a:ext cx="20116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400300" y="3154680"/>
            <a:ext cx="2011680" cy="54864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583180" y="3337560"/>
            <a:ext cx="411480" cy="411480"/>
          </a:xfrm>
          <a:prstGeom prst="ellipse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83180" y="3337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86100" y="33375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2FBE"/>
                </a:solidFill>
              </a:defRPr>
            </a:pPr>
            <a:r>
              <a:t>成果展示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32020" y="3154680"/>
            <a:ext cx="20116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32020" y="3154680"/>
            <a:ext cx="2011680" cy="54864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914900" y="3337560"/>
            <a:ext cx="411480" cy="411480"/>
          </a:xfrm>
          <a:prstGeom prst="ellipse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14900" y="3337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17820" y="33375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2FBE"/>
                </a:solidFill>
              </a:defRPr>
            </a:pPr>
            <a:r>
              <a:t>未来规划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A882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B2FBE"/>
                </a:solidFill>
              </a:defRPr>
            </a:pPr>
            <a:r>
              <a:t>自我认知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B2FBE"/>
                </a:solidFill>
              </a:defRPr>
            </a:pPr>
            <a:r>
              <a:t>Self-Awareness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自我认知 - 第1部分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45720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2FBE"/>
                </a:solidFill>
              </a:defRPr>
            </a:pPr>
            <a:r>
              <a:t>性格特征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B2FBE"/>
                </a:solidFill>
              </a:defRPr>
            </a:pPr>
            <a:r>
              <a:t>  MBTI类型: INTJ / ENTJ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B2FBE"/>
                </a:solidFill>
              </a:defRPr>
            </a:pPr>
            <a:r>
              <a:t>  善于逻辑分析与规划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B2FBE"/>
                </a:solidFill>
              </a:defRPr>
            </a:pPr>
            <a:r>
              <a:t>  目标导向，执行力强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B2FBE"/>
                </a:solidFill>
              </a:defRPr>
            </a:pPr>
            <a:r>
              <a:t>  注重效率与结果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371600"/>
            <a:ext cx="33832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554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882FF"/>
                </a:solidFill>
              </a:defRPr>
            </a:pPr>
            <a:r>
              <a:t>能力雷达图</a:t>
            </a:r>
          </a:p>
        </p:txBody>
      </p:sp>
      <p:sp>
        <p:nvSpPr>
          <p:cNvPr id="13" name="Oval 12"/>
          <p:cNvSpPr/>
          <p:nvPr/>
        </p:nvSpPr>
        <p:spPr>
          <a:xfrm>
            <a:off x="5852160" y="2788920"/>
            <a:ext cx="2286000" cy="2286000"/>
          </a:xfrm>
          <a:prstGeom prst="ellipse">
            <a:avLst/>
          </a:prstGeom>
          <a:solidFill>
            <a:srgbClr val="7B2FB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46297" y="284122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7B2FBE"/>
                </a:solidFill>
              </a:defRPr>
            </a:pPr>
            <a:r>
              <a:t>领导力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8980" y="305145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7B2FBE"/>
                </a:solidFill>
              </a:defRPr>
            </a:pPr>
            <a:r>
              <a:t>沟通力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2319" y="432681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7B2FBE"/>
                </a:solidFill>
              </a:defRPr>
            </a:pPr>
            <a:r>
              <a:t>技术力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9126" y="4904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7B2FBE"/>
                </a:solidFill>
              </a:defRPr>
            </a:pPr>
            <a:r>
              <a:t>创新力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3075" y="39866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7B2FBE"/>
                </a:solidFill>
              </a:defRPr>
            </a:pPr>
            <a:r>
              <a:t>执行力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自我认知 - 第2部分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45720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2FBE"/>
                </a:solidFill>
              </a:defRPr>
            </a:pPr>
            <a:r>
              <a:t>兴趣与价值观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B2FBE"/>
                </a:solidFill>
              </a:defRPr>
            </a:pPr>
            <a:r>
              <a:t>  对科技与创新充满热情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B2FBE"/>
                </a:solidFill>
              </a:defRPr>
            </a:pPr>
            <a:r>
              <a:t>  追求持续学习与成长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B2FBE"/>
                </a:solidFill>
              </a:defRPr>
            </a:pPr>
            <a:r>
              <a:t>  重视团队协作与影响力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B2FBE"/>
                </a:solidFill>
              </a:defRPr>
            </a:pPr>
            <a:r>
              <a:t>  渴望创造社会价值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371600"/>
            <a:ext cx="33832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554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882FF"/>
                </a:solidFill>
              </a:defRPr>
            </a:pPr>
            <a:r>
              <a:t>能力雷达图</a:t>
            </a:r>
          </a:p>
        </p:txBody>
      </p:sp>
      <p:sp>
        <p:nvSpPr>
          <p:cNvPr id="13" name="Oval 12"/>
          <p:cNvSpPr/>
          <p:nvPr/>
        </p:nvSpPr>
        <p:spPr>
          <a:xfrm>
            <a:off x="5852160" y="2788920"/>
            <a:ext cx="2286000" cy="2286000"/>
          </a:xfrm>
          <a:prstGeom prst="ellipse">
            <a:avLst/>
          </a:prstGeom>
          <a:solidFill>
            <a:srgbClr val="7B2FB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46297" y="284122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7B2FBE"/>
                </a:solidFill>
              </a:defRPr>
            </a:pPr>
            <a:r>
              <a:t>领导力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8980" y="305145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7B2FBE"/>
                </a:solidFill>
              </a:defRPr>
            </a:pPr>
            <a:r>
              <a:t>沟通力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2319" y="432681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7B2FBE"/>
                </a:solidFill>
              </a:defRPr>
            </a:pPr>
            <a:r>
              <a:t>技术力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9126" y="4904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7B2FBE"/>
                </a:solidFill>
              </a:defRPr>
            </a:pPr>
            <a:r>
              <a:t>创新力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3075" y="39866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7B2FBE"/>
                </a:solidFill>
              </a:defRPr>
            </a:pPr>
            <a:r>
              <a:t>执行力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A882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B2FBE"/>
                </a:solidFill>
              </a:defRPr>
            </a:pPr>
            <a:r>
              <a:t>职业探索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B2FBE"/>
                </a:solidFill>
              </a:defRPr>
            </a:pPr>
            <a:r>
              <a:t>Career Exploration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职业探索 - 第1部分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3774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63040" y="1737360"/>
            <a:ext cx="731520" cy="731520"/>
          </a:xfrm>
          <a:prstGeom prst="ellipse">
            <a:avLst/>
          </a:prstGeom>
          <a:solidFill>
            <a:srgbClr val="A882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B2FBE"/>
                </a:solidFill>
              </a:defRPr>
            </a:pPr>
            <a:r>
              <a:t>互联网科技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B2FBE"/>
                </a:solidFill>
              </a:defRPr>
            </a:pPr>
            <a:r>
              <a:t>持续高增长</a:t>
            </a:r>
            <a:br/>
            <a:r>
              <a:t>人才需求旺盛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3774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06240" y="1737360"/>
            <a:ext cx="731520" cy="731520"/>
          </a:xfrm>
          <a:prstGeom prst="ellipse">
            <a:avLst/>
          </a:prstGeom>
          <a:solidFill>
            <a:srgbClr val="A882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B2FBE"/>
                </a:solidFill>
              </a:defRPr>
            </a:pPr>
            <a:r>
              <a:t>人工智能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1089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B2FBE"/>
                </a:solidFill>
              </a:defRPr>
            </a:pPr>
            <a:r>
              <a:t>新兴赛道</a:t>
            </a:r>
            <a:br/>
            <a:r>
              <a:t>前景广阔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371600"/>
            <a:ext cx="23774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0" y="1737360"/>
            <a:ext cx="731520" cy="731520"/>
          </a:xfrm>
          <a:prstGeom prst="ellipse">
            <a:avLst/>
          </a:prstGeom>
          <a:solidFill>
            <a:srgbClr val="A882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B2FBE"/>
                </a:solidFill>
              </a:defRPr>
            </a:pPr>
            <a:r>
              <a:t>新能源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1089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B2FBE"/>
                </a:solidFill>
              </a:defRPr>
            </a:pPr>
            <a:r>
              <a:t>政策驱动</a:t>
            </a:r>
            <a:br/>
            <a:r>
              <a:t>长期利好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职业探索 - 第2部分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3774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63040" y="1737360"/>
            <a:ext cx="731520" cy="731520"/>
          </a:xfrm>
          <a:prstGeom prst="ellipse">
            <a:avLst/>
          </a:prstGeom>
          <a:solidFill>
            <a:srgbClr val="A882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B2FBE"/>
                </a:solidFill>
              </a:defRPr>
            </a:pPr>
            <a:r>
              <a:t>产品经理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B2FBE"/>
                </a:solidFill>
              </a:defRPr>
            </a:pPr>
            <a:r>
              <a:t>用户洞察</a:t>
            </a:r>
            <a:br/>
            <a:r>
              <a:t>需求管理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3774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06240" y="1737360"/>
            <a:ext cx="731520" cy="731520"/>
          </a:xfrm>
          <a:prstGeom prst="ellipse">
            <a:avLst/>
          </a:prstGeom>
          <a:solidFill>
            <a:srgbClr val="A882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B2FBE"/>
                </a:solidFill>
              </a:defRPr>
            </a:pPr>
            <a:r>
              <a:t>技术总监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1089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B2FBE"/>
                </a:solidFill>
              </a:defRPr>
            </a:pPr>
            <a:r>
              <a:t>技术架构</a:t>
            </a:r>
            <a:br/>
            <a:r>
              <a:t>团队管理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371600"/>
            <a:ext cx="23774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0" y="1737360"/>
            <a:ext cx="731520" cy="731520"/>
          </a:xfrm>
          <a:prstGeom prst="ellipse">
            <a:avLst/>
          </a:prstGeom>
          <a:solidFill>
            <a:srgbClr val="A882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B2FBE"/>
                </a:solidFill>
              </a:defRPr>
            </a:pPr>
            <a:r>
              <a:t>创业合伙人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1089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B2FBE"/>
                </a:solidFill>
              </a:defRPr>
            </a:pPr>
            <a:r>
              <a:t>商业思维</a:t>
            </a:r>
            <a:br/>
            <a:r>
              <a:t>资源整合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目标设定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37744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2377440" cy="1097280"/>
          </a:xfrm>
          <a:prstGeom prst="rect">
            <a:avLst/>
          </a:prstGeom>
          <a:solidFill>
            <a:srgbClr val="A882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短期目标</a:t>
            </a:r>
            <a:br/>
            <a:r>
              <a:t>(1年)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完成专业技能认证</a:t>
            </a:r>
            <a:br/>
            <a:r>
              <a:t>积累项目经验</a:t>
            </a:r>
            <a:br/>
            <a:r>
              <a:t>建立行业人脉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37744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371600"/>
            <a:ext cx="2377440" cy="1097280"/>
          </a:xfrm>
          <a:prstGeom prst="rect">
            <a:avLst/>
          </a:prstGeom>
          <a:solidFill>
            <a:srgbClr val="A882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中期目标</a:t>
            </a:r>
            <a:br/>
            <a:r>
              <a:t>(3年)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7432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成为领域专家</a:t>
            </a:r>
            <a:br/>
            <a:r>
              <a:t>带领5-10人团队</a:t>
            </a:r>
            <a:br/>
            <a:r>
              <a:t>年薪突破50万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371600"/>
            <a:ext cx="237744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2377440" cy="1097280"/>
          </a:xfrm>
          <a:prstGeom prst="rect">
            <a:avLst/>
          </a:prstGeom>
          <a:solidFill>
            <a:srgbClr val="A882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长期目标</a:t>
            </a:r>
            <a:br/>
            <a:r>
              <a:t>(5-10年)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7432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行业领军人物</a:t>
            </a:r>
            <a:br/>
            <a:r>
              <a:t>创办或合伙创业</a:t>
            </a:r>
            <a:br/>
            <a:r>
              <a:t>实现财务自由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能力提升 - 第1部分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82296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73152" cy="1371600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2FBE"/>
                </a:solidFill>
              </a:defRPr>
            </a:pPr>
            <a:r>
              <a:t>数据分析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Python / SQL / BI工具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920240"/>
            <a:ext cx="3840480" cy="274320"/>
          </a:xfrm>
          <a:prstGeom prst="round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920240"/>
            <a:ext cx="1920240" cy="274320"/>
          </a:xfrm>
          <a:prstGeom prst="round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3017520"/>
            <a:ext cx="82296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73152" cy="1371600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2FBE"/>
                </a:solidFill>
              </a:defRPr>
            </a:pPr>
            <a:r>
              <a:t>项目管理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PMP认证 / 敏捷方法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566160"/>
            <a:ext cx="3840480" cy="274320"/>
          </a:xfrm>
          <a:prstGeom prst="round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0" y="3566160"/>
            <a:ext cx="2496312" cy="274320"/>
          </a:xfrm>
          <a:prstGeom prst="round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4663440"/>
            <a:ext cx="82296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663440"/>
            <a:ext cx="73152" cy="1371600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2FBE"/>
                </a:solidFill>
              </a:defRPr>
            </a:pPr>
            <a:r>
              <a:t>技术能力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AI / 云计算 / 架构设计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5212080"/>
            <a:ext cx="3840480" cy="274320"/>
          </a:xfrm>
          <a:prstGeom prst="round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0" y="5212080"/>
            <a:ext cx="3072384" cy="274320"/>
          </a:xfrm>
          <a:prstGeom prst="round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能力提升 - 第2部分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82296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73152" cy="1371600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2FBE"/>
                </a:solidFill>
              </a:defRPr>
            </a:pPr>
            <a:r>
              <a:t>领导力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团队管理与激励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920240"/>
            <a:ext cx="3840480" cy="274320"/>
          </a:xfrm>
          <a:prstGeom prst="round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920240"/>
            <a:ext cx="1920240" cy="274320"/>
          </a:xfrm>
          <a:prstGeom prst="round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3017520"/>
            <a:ext cx="82296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73152" cy="1371600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2FBE"/>
                </a:solidFill>
              </a:defRPr>
            </a:pPr>
            <a:r>
              <a:t>沟通表达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演讲 / 写作 / 谈判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566160"/>
            <a:ext cx="3840480" cy="274320"/>
          </a:xfrm>
          <a:prstGeom prst="round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0" y="3566160"/>
            <a:ext cx="2496312" cy="274320"/>
          </a:xfrm>
          <a:prstGeom prst="round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4663440"/>
            <a:ext cx="82296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663440"/>
            <a:ext cx="73152" cy="1371600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2FBE"/>
                </a:solidFill>
              </a:defRPr>
            </a:pPr>
            <a:r>
              <a:t>创新思维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设计思维 / 创业方法论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5212080"/>
            <a:ext cx="3840480" cy="274320"/>
          </a:xfrm>
          <a:prstGeom prst="round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0" y="5212080"/>
            <a:ext cx="3072384" cy="274320"/>
          </a:xfrm>
          <a:prstGeom prst="round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A882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B2FBE"/>
                </a:solidFill>
              </a:defRPr>
            </a:pPr>
            <a:r>
              <a:t>实践与成果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B2FBE"/>
                </a:solidFill>
              </a:defRPr>
            </a:pPr>
            <a:r>
              <a:t>Practice &amp; Achievements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实践经历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82296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" cy="1371600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82FF"/>
                </a:solidFill>
              </a:defRPr>
            </a:pPr>
            <a:r>
              <a:t>2023.06 - 2024.06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2FBE"/>
                </a:solidFill>
              </a:defRPr>
            </a:pPr>
            <a:r>
              <a:t>XX科技有限公司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产品实习生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6459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负责用户增长模块</a:t>
            </a:r>
            <a:br/>
            <a:r>
              <a:t>参与3个核心功能迭代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71800"/>
            <a:ext cx="82296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971800"/>
            <a:ext cx="54864" cy="1371600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54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82FF"/>
                </a:solidFill>
              </a:defRPr>
            </a:pPr>
            <a:r>
              <a:t>2022.09 - 2023.05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29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2FBE"/>
                </a:solidFill>
              </a:defRPr>
            </a:pPr>
            <a:r>
              <a:t>校内创业项目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项目负责人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2461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带领5人团队完成MVP</a:t>
            </a:r>
            <a:br/>
            <a:r>
              <a:t>获得校级创业大赛一等奖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572000"/>
            <a:ext cx="82296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572000"/>
            <a:ext cx="54864" cy="1371600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754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82FF"/>
                </a:solidFill>
              </a:defRPr>
            </a:pPr>
            <a:r>
              <a:t>2021.09 - 2022.06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2FBE"/>
                </a:solidFill>
              </a:defRPr>
            </a:pPr>
            <a:r>
              <a:t>学生会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副主席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8463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组织10+场大型活动</a:t>
            </a:r>
            <a:br/>
            <a:r>
              <a:t>管理30人团队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成果展示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" y="1645920"/>
            <a:ext cx="18288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2980" y="1920240"/>
            <a:ext cx="731520" cy="731520"/>
          </a:xfrm>
          <a:prstGeom prst="ellipse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" y="20116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882FF"/>
                </a:solidFill>
              </a:defRPr>
            </a:pPr>
            <a:r>
              <a:t>5+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B2FBE"/>
                </a:solidFill>
              </a:defRPr>
            </a:pPr>
            <a:r>
              <a:t>专业证书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83180" y="1645920"/>
            <a:ext cx="18288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31820" y="1920240"/>
            <a:ext cx="731520" cy="731520"/>
          </a:xfrm>
          <a:prstGeom prst="ellipse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31820" y="20116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318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882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318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B2FBE"/>
                </a:solidFill>
              </a:defRPr>
            </a:pPr>
            <a:r>
              <a:t>创业项目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32020" y="1645920"/>
            <a:ext cx="18288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80660" y="1920240"/>
            <a:ext cx="731520" cy="731520"/>
          </a:xfrm>
          <a:prstGeom prst="ellipse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80660" y="20116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202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882FF"/>
                </a:solidFill>
              </a:defRPr>
            </a:pPr>
            <a:r>
              <a:t>10+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202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B2FBE"/>
                </a:solidFill>
              </a:defRPr>
            </a:pPr>
            <a:r>
              <a:t>获奖经历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80860" y="1645920"/>
            <a:ext cx="18288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29500" y="1920240"/>
            <a:ext cx="731520" cy="731520"/>
          </a:xfrm>
          <a:prstGeom prst="ellipse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29500" y="20116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086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882FF"/>
                </a:solidFill>
              </a:defRPr>
            </a:pPr>
            <a:r>
              <a:t>50+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086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B2FBE"/>
                </a:solidFill>
              </a:defRPr>
            </a:pPr>
            <a:r>
              <a:t>人脉网络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023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  PMP项目管理专业人士认证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3891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  全国大学生创新创业大赛一等奖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754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  Python数据分析高级认证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120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  优秀学生干部 / 奖学金获得者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未来规划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37744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2377440" cy="914400"/>
          </a:xfrm>
          <a:prstGeom prst="rect">
            <a:avLst/>
          </a:prstGeom>
          <a:solidFill>
            <a:srgbClr val="A882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近期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E93D8"/>
                </a:solidFill>
              </a:defRPr>
            </a:pPr>
            <a:r>
              <a:t>1年内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专业深耕</a:t>
            </a:r>
            <a:br/>
            <a:r>
              <a:t>技能认证</a:t>
            </a:r>
            <a:br/>
            <a:r>
              <a:t>项目积累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37744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371600"/>
            <a:ext cx="2377440" cy="914400"/>
          </a:xfrm>
          <a:prstGeom prst="rect">
            <a:avLst/>
          </a:prstGeom>
          <a:solidFill>
            <a:srgbClr val="A882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中期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828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E93D8"/>
                </a:solidFill>
              </a:defRPr>
            </a:pPr>
            <a:r>
              <a:t>3年内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5603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管理转型</a:t>
            </a:r>
            <a:br/>
            <a:r>
              <a:t>行业影响</a:t>
            </a:r>
            <a:br/>
            <a:r>
              <a:t>资源积累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371600"/>
            <a:ext cx="237744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2377440" cy="914400"/>
          </a:xfrm>
          <a:prstGeom prst="rect">
            <a:avLst/>
          </a:prstGeom>
          <a:solidFill>
            <a:srgbClr val="A882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远期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828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E93D8"/>
                </a:solidFill>
              </a:defRPr>
            </a:pPr>
            <a:r>
              <a:t>5年+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5603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创业/高管</a:t>
            </a:r>
            <a:br/>
            <a:r>
              <a:t>行业领军人</a:t>
            </a:r>
            <a:br/>
            <a:r>
              <a:t>社会贡献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7B2FBE"/>
              </a:gs>
              <a:gs pos="100000">
                <a:srgbClr val="E040F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E93D8"/>
                </a:solidFill>
              </a:defRPr>
            </a:pPr>
            <a:r>
              <a:t>感谢聆听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246120"/>
            <a:ext cx="1828800" cy="25400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
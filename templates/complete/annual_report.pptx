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E74C3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9144000" cy="2743200"/>
          </a:xfrm>
          <a:prstGeom prst="rect">
            <a:avLst/>
          </a:prstGeom>
          <a:solidFill>
            <a:srgbClr val="C0392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9144000" cy="2286000"/>
          </a:xfrm>
          <a:prstGeom prst="rect">
            <a:avLst/>
          </a:prstGeom>
          <a:solidFill>
            <a:srgbClr val="C0392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0"/>
            <a:ext cx="9144000" cy="1828800"/>
          </a:xfrm>
          <a:prstGeom prst="rect">
            <a:avLst/>
          </a:prstGeom>
          <a:solidFill>
            <a:srgbClr val="C0392B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200400"/>
            <a:ext cx="9144000" cy="254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657600"/>
            <a:ext cx="9144000" cy="254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9144000" cy="254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1371600" cy="254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8720" y="3017520"/>
            <a:ext cx="1188720" cy="254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20240" y="3291840"/>
            <a:ext cx="1005840" cy="254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3566160"/>
            <a:ext cx="822959" cy="254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3840480"/>
            <a:ext cx="640080" cy="25400"/>
          </a:xfrm>
          <a:prstGeom prst="rect">
            <a:avLst/>
          </a:prstGeom>
          <a:solidFill>
            <a:srgbClr val="FFFFFF">
              <a:alpha val="3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16459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Annual Report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7432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F9A9A"/>
                </a:solidFill>
              </a:defRPr>
            </a:pPr>
            <a:r>
              <a:t>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520440"/>
            <a:ext cx="2743200" cy="25400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749039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F9A9A"/>
                </a:solidFill>
              </a:defRPr>
            </a:pPr>
            <a:r>
              <a:t>PPT Template Library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目 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3774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23774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6B6B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</a:defRPr>
            </a:pPr>
            <a:r>
              <a:t>公司概览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71600"/>
            <a:ext cx="23774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3774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6B6B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</a:defRPr>
            </a:pPr>
            <a:r>
              <a:t>年度成绩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371600"/>
            <a:ext cx="23774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371600"/>
            <a:ext cx="23774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6B6B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</a:defRPr>
            </a:pPr>
            <a:r>
              <a:t>数据分析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00400"/>
            <a:ext cx="23774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200400"/>
            <a:ext cx="23774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383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6B6B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31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</a:defRPr>
            </a:pPr>
            <a:r>
              <a:t>团队建设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3200400"/>
            <a:ext cx="23774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3280" y="3200400"/>
            <a:ext cx="23774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383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6B6B"/>
                </a:solidFill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</a:defRPr>
            </a:pPr>
            <a:r>
              <a:t>社会责任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200400"/>
            <a:ext cx="23774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3200400"/>
            <a:ext cx="23774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3383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6B6B"/>
                </a:solidFill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931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</a:defRPr>
            </a:pPr>
            <a:r>
              <a:t>未来展望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FF6B6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0392B"/>
                </a:solidFill>
              </a:defRPr>
            </a:pPr>
            <a:r>
              <a:t>公司概览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0392B"/>
                </a:solidFill>
              </a:defRPr>
            </a:pPr>
            <a:r>
              <a:t>Company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公司概览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8288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6B6B"/>
                </a:solidFill>
              </a:defRPr>
            </a:pPr>
            <a:r>
              <a:t>2018年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392B"/>
                </a:solidFill>
              </a:defRPr>
            </a:pPr>
            <a:r>
              <a:t>成立时间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1371600"/>
            <a:ext cx="18288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6B6B"/>
                </a:solidFill>
              </a:defRPr>
            </a:pPr>
            <a:r>
              <a:t>500+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392B"/>
                </a:solidFill>
              </a:defRPr>
            </a:pPr>
            <a:r>
              <a:t>员工规模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371600"/>
            <a:ext cx="18288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6B6B"/>
                </a:solidFill>
              </a:defRPr>
            </a:pPr>
            <a:r>
              <a:t>全国20+城市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392B"/>
                </a:solidFill>
              </a:defRPr>
            </a:pPr>
            <a:r>
              <a:t>业务覆盖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1371600"/>
            <a:ext cx="18288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6B6B"/>
                </a:solidFill>
              </a:defRPr>
            </a:pPr>
            <a:r>
              <a:t>2000+企业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392B"/>
                </a:solidFill>
              </a:defRPr>
            </a:pPr>
            <a:r>
              <a:t>服务客户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017520"/>
            <a:ext cx="82296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</a:defRPr>
            </a:pPr>
            <a:r>
              <a:t>公司简介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49039"/>
            <a:ext cx="7680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392B"/>
                </a:solidFill>
              </a:defRPr>
            </a:pPr>
            <a:r>
              <a:t>我们是一家专注于企业数字化转型的科技公司，致力于通过人工智能、大数据和云计算技术，为客户提供一站式数字化解决方案。公司成立7年来，已服务超过2000家企业客户，涵盖金融、制造、零售、医疗等多个行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FF6B6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0392B"/>
                </a:solidFill>
              </a:defRPr>
            </a:pPr>
            <a:r>
              <a:t>年度成绩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0392B"/>
                </a:solidFill>
              </a:defRPr>
            </a:pPr>
            <a:r>
              <a:t>Annual Achievements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年度成绩 - 第1部分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营收增长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3774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6B"/>
                </a:solidFill>
              </a:defRPr>
            </a:pPr>
            <a:r>
              <a:t>2.5亿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392B"/>
                </a:solidFill>
              </a:defRPr>
            </a:pPr>
            <a:r>
              <a:t>年营收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828800"/>
            <a:ext cx="23774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6B"/>
                </a:solidFill>
              </a:defRPr>
            </a:pPr>
            <a:r>
              <a:t>35%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06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392B"/>
                </a:solidFill>
              </a:defRPr>
            </a:pPr>
            <a:r>
              <a:t>同比增长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23774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6B"/>
                </a:solidFill>
              </a:defRPr>
            </a:pPr>
            <a:r>
              <a:t>85%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606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392B"/>
                </a:solidFill>
              </a:defRPr>
            </a:pPr>
            <a:r>
              <a:t>客户续约率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</a:defRPr>
            </a:pPr>
            <a:r>
              <a:t>  核心业务收入占比 70%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</a:defRPr>
            </a:pPr>
            <a:r>
              <a:t>  新兴业务贡献持续提升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</a:defRPr>
            </a:pPr>
            <a:r>
              <a:t>  毛利率保持在 60% 以上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年度成绩 - 第2部分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市场拓展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3774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6B"/>
                </a:solidFill>
              </a:defRPr>
            </a:pPr>
            <a:r>
              <a:t>20+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392B"/>
                </a:solidFill>
              </a:defRPr>
            </a:pPr>
            <a:r>
              <a:t>覆盖城市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828800"/>
            <a:ext cx="23774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6B"/>
                </a:solidFill>
              </a:defRPr>
            </a:pPr>
            <a:r>
              <a:t>500+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06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392B"/>
                </a:solidFill>
              </a:defRPr>
            </a:pPr>
            <a:r>
              <a:t>企业客户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23774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6B"/>
                </a:solidFill>
              </a:defRPr>
            </a:pPr>
            <a:r>
              <a:t>50+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606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392B"/>
                </a:solidFill>
              </a:defRPr>
            </a:pPr>
            <a:r>
              <a:t>战略伙伴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</a:defRPr>
            </a:pPr>
            <a:r>
              <a:t>  华北、华东、华南三大区域均衡发展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</a:defRPr>
            </a:pPr>
            <a:r>
              <a:t>  海外业务开始布局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</a:defRPr>
            </a:pPr>
            <a:r>
              <a:t>  渠道合作伙伴持续扩大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年度成绩 - 第3部分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产品创新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3774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6B"/>
                </a:solidFill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392B"/>
                </a:solidFill>
              </a:defRPr>
            </a:pPr>
            <a:r>
              <a:t>新产品上线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828800"/>
            <a:ext cx="23774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6B"/>
                </a:solidFill>
              </a:defRPr>
            </a:pPr>
            <a:r>
              <a:t>30+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06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392B"/>
                </a:solidFill>
              </a:defRPr>
            </a:pPr>
            <a:r>
              <a:t>技术专利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23774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6B"/>
                </a:solidFill>
              </a:defRPr>
            </a:pPr>
            <a:r>
              <a:t>99.9%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606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392B"/>
                </a:solidFill>
              </a:defRPr>
            </a:pPr>
            <a:r>
              <a:t>系统可用性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</a:defRPr>
            </a:pPr>
            <a:r>
              <a:t>  研发投入占营收 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</a:defRPr>
            </a:pPr>
            <a:r>
              <a:t>  核心技术自主可控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</a:defRPr>
            </a:pPr>
            <a:r>
              <a:t>  产品用户满意度 4.8/5.0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FF6B6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0392B"/>
                </a:solidFill>
              </a:defRPr>
            </a:pPr>
            <a:r>
              <a:t>业绩亮点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0392B"/>
                </a:solidFill>
              </a:defRPr>
            </a:pPr>
            <a:r>
              <a:t>Performance Highlights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FF6B6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0392B"/>
                </a:solidFill>
              </a:defRPr>
            </a:pPr>
            <a:r>
              <a:t>数据分析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0392B"/>
                </a:solidFill>
              </a:defRPr>
            </a:pPr>
            <a:r>
              <a:t>Data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数据分析 - 第1部分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8404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</a:defRPr>
            </a:pPr>
            <a:r>
              <a:t>营收趋势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6B"/>
                </a:solidFill>
              </a:defRPr>
            </a:pPr>
            <a:r>
              <a:t>2.5亿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3291840" cy="2743200"/>
          </a:xfrm>
          <a:prstGeom prst="roundRect">
            <a:avLst/>
          </a:prstGeom>
          <a:solidFill>
            <a:srgbClr val="C0392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392B"/>
                </a:solidFill>
              </a:defRPr>
            </a:pPr>
            <a:r>
              <a:t>图表区域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188720"/>
            <a:ext cx="4114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3716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</a:defRPr>
            </a:pPr>
            <a:r>
              <a:t>详细数据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</a:defRPr>
            </a:pPr>
            <a:r>
              <a:t>Q1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2331720"/>
            <a:ext cx="3200400" cy="2743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46320" y="2331720"/>
            <a:ext cx="2880359" cy="27432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651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</a:defRPr>
            </a:pPr>
            <a:r>
              <a:t>5000万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</a:defRPr>
            </a:pPr>
            <a:r>
              <a:t>Q2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3337560"/>
            <a:ext cx="3200400" cy="2743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46320" y="3337560"/>
            <a:ext cx="2400300" cy="27432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36576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</a:defRPr>
            </a:pPr>
            <a:r>
              <a:t>6000万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</a:defRPr>
            </a:pPr>
            <a:r>
              <a:t>Q3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4343400"/>
            <a:ext cx="3200400" cy="2743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46320" y="4343400"/>
            <a:ext cx="1920240" cy="27432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4663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</a:defRPr>
            </a:pPr>
            <a:r>
              <a:t>7000万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029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</a:defRPr>
            </a:pPr>
            <a:r>
              <a:t>Q4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46320" y="5349240"/>
            <a:ext cx="3200400" cy="2743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46320" y="5349240"/>
            <a:ext cx="1440179" cy="27432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56692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</a:defRPr>
            </a:pPr>
            <a:r>
              <a:t>7000万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数据分析 - 第2部分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8404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</a:defRPr>
            </a:pPr>
            <a:r>
              <a:t>客户分布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6B"/>
                </a:solidFill>
              </a:defRPr>
            </a:pPr>
            <a:r>
              <a:t>2000+客户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3291840" cy="2743200"/>
          </a:xfrm>
          <a:prstGeom prst="roundRect">
            <a:avLst/>
          </a:prstGeom>
          <a:solidFill>
            <a:srgbClr val="C0392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392B"/>
                </a:solidFill>
              </a:defRPr>
            </a:pPr>
            <a:r>
              <a:t>图表区域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188720"/>
            <a:ext cx="4114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3716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</a:defRPr>
            </a:pPr>
            <a:r>
              <a:t>详细数据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</a:defRPr>
            </a:pPr>
            <a:r>
              <a:t>金融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2331720"/>
            <a:ext cx="3200400" cy="2743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46320" y="2331720"/>
            <a:ext cx="2880359" cy="27432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651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</a:defRPr>
            </a:pPr>
            <a:r>
              <a:t>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</a:defRPr>
            </a:pPr>
            <a:r>
              <a:t>制造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3337560"/>
            <a:ext cx="3200400" cy="2743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46320" y="3337560"/>
            <a:ext cx="2400300" cy="27432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36576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</a:defRPr>
            </a:pPr>
            <a:r>
              <a:t>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</a:defRPr>
            </a:pPr>
            <a:r>
              <a:t>零售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4343400"/>
            <a:ext cx="3200400" cy="2743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46320" y="4343400"/>
            <a:ext cx="1920240" cy="27432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4663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</a:defRPr>
            </a:pPr>
            <a:r>
              <a:t>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029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</a:defRPr>
            </a:pPr>
            <a:r>
              <a:t>医疗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46320" y="5349240"/>
            <a:ext cx="3200400" cy="2743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46320" y="5349240"/>
            <a:ext cx="1440179" cy="27432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56692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</a:defRPr>
            </a:pPr>
            <a:r>
              <a:t>15%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6035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</a:defRPr>
            </a:pPr>
            <a:r>
              <a:t>其他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6355080"/>
            <a:ext cx="3200400" cy="2743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846320" y="6355080"/>
            <a:ext cx="960120" cy="27432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6675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</a:defRPr>
            </a:pPr>
            <a:r>
              <a:t>10%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数据分析 - 第3部分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8404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</a:defRPr>
            </a:pPr>
            <a:r>
              <a:t>产品使用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6B"/>
                </a:solidFill>
              </a:defRPr>
            </a:pPr>
            <a:r>
              <a:t>日活 50万+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3291840" cy="2743200"/>
          </a:xfrm>
          <a:prstGeom prst="roundRect">
            <a:avLst/>
          </a:prstGeom>
          <a:solidFill>
            <a:srgbClr val="C0392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392B"/>
                </a:solidFill>
              </a:defRPr>
            </a:pPr>
            <a:r>
              <a:t>图表区域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188720"/>
            <a:ext cx="4114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3716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</a:defRPr>
            </a:pPr>
            <a:r>
              <a:t>详细数据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</a:defRPr>
            </a:pPr>
            <a:r>
              <a:t>数据分析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2331720"/>
            <a:ext cx="3200400" cy="2743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46320" y="2331720"/>
            <a:ext cx="2880359" cy="27432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651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</a:defRPr>
            </a:pPr>
            <a:r>
              <a:t>85%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</a:defRPr>
            </a:pPr>
            <a:r>
              <a:t>自动化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3337560"/>
            <a:ext cx="3200400" cy="2743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46320" y="3337560"/>
            <a:ext cx="2400300" cy="27432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36576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</a:defRPr>
            </a:pPr>
            <a:r>
              <a:t>70%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</a:defRPr>
            </a:pPr>
            <a:r>
              <a:t>协作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4343400"/>
            <a:ext cx="3200400" cy="2743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46320" y="4343400"/>
            <a:ext cx="1920240" cy="27432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4663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</a:defRPr>
            </a:pPr>
            <a:r>
              <a:t>60%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029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</a:defRPr>
            </a:pPr>
            <a:r>
              <a:t>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46320" y="5349240"/>
            <a:ext cx="3200400" cy="2743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46320" y="5349240"/>
            <a:ext cx="1440179" cy="27432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56692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</a:defRPr>
            </a:pPr>
            <a:r>
              <a:t>45%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数据分析 - 第4部分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8404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</a:defRPr>
            </a:pPr>
            <a:r>
              <a:t>满意度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6B"/>
                </a:solidFill>
              </a:defRPr>
            </a:pPr>
            <a:r>
              <a:t>综合 4.65/5.0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3291840" cy="2743200"/>
          </a:xfrm>
          <a:prstGeom prst="roundRect">
            <a:avLst/>
          </a:prstGeom>
          <a:solidFill>
            <a:srgbClr val="C0392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392B"/>
                </a:solidFill>
              </a:defRPr>
            </a:pPr>
            <a:r>
              <a:t>图表区域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188720"/>
            <a:ext cx="4114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3716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</a:defRPr>
            </a:pPr>
            <a:r>
              <a:t>详细数据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</a:defRPr>
            </a:pPr>
            <a:r>
              <a:t>功能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2331720"/>
            <a:ext cx="3200400" cy="2743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46320" y="2331720"/>
            <a:ext cx="2880359" cy="27432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651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</a:defRPr>
            </a:pPr>
            <a:r>
              <a:t>4.8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</a:defRPr>
            </a:pPr>
            <a:r>
              <a:t>性能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3337560"/>
            <a:ext cx="3200400" cy="2743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46320" y="3337560"/>
            <a:ext cx="2400300" cy="27432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36576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</a:defRPr>
            </a:pPr>
            <a:r>
              <a:t>4.7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</a:defRPr>
            </a:pPr>
            <a:r>
              <a:t>服务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4343400"/>
            <a:ext cx="3200400" cy="2743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46320" y="4343400"/>
            <a:ext cx="1920240" cy="27432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4663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</a:defRPr>
            </a:pPr>
            <a:r>
              <a:t>4.6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029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</a:defRPr>
            </a:pPr>
            <a:r>
              <a:t>价格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46320" y="5349240"/>
            <a:ext cx="3200400" cy="2743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46320" y="5349240"/>
            <a:ext cx="1440179" cy="27432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56692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</a:defRPr>
            </a:pPr>
            <a:r>
              <a:t>4.5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FF6B6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0392B"/>
                </a:solidFill>
              </a:defRPr>
            </a:pPr>
            <a:r>
              <a:t>团队与文化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0392B"/>
                </a:solidFill>
              </a:defRPr>
            </a:pPr>
            <a:r>
              <a:t>Team &amp; Culture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团队建设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23774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6B"/>
                </a:solidFill>
              </a:defRPr>
            </a:pPr>
            <a:r>
              <a:t>500+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t>团队规模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392B"/>
                </a:solidFill>
              </a:defRPr>
            </a:pPr>
            <a:r>
              <a:t>同比增长 25%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188720"/>
            <a:ext cx="23774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6B"/>
                </a:solidFill>
              </a:defRPr>
            </a:pPr>
            <a:r>
              <a:t>45%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874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t>硕博占比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2402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392B"/>
                </a:solidFill>
              </a:defRPr>
            </a:pPr>
            <a:r>
              <a:t>技术人才为主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188720"/>
            <a:ext cx="23774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6B"/>
                </a:solidFill>
              </a:defRPr>
            </a:pPr>
            <a:r>
              <a:t>92%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874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t>员工满意度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2402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392B"/>
                </a:solidFill>
              </a:defRPr>
            </a:pPr>
            <a:r>
              <a:t>行业领先水平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74720"/>
            <a:ext cx="237744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74720"/>
            <a:ext cx="23774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03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t>人才培养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062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392B"/>
                </a:solidFill>
              </a:defRPr>
            </a:pPr>
            <a:r>
              <a:t>年度培训计划覆盖全员</a:t>
            </a:r>
            <a:br/>
            <a:r>
              <a:t>外部专家讲座 20+场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3474720"/>
            <a:ext cx="237744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3280" y="3474720"/>
            <a:ext cx="23774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703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t>文化建设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2062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392B"/>
                </a:solidFill>
              </a:defRPr>
            </a:pPr>
            <a:r>
              <a:t>季度团建活动</a:t>
            </a:r>
            <a:br/>
            <a:r>
              <a:t>员工关怀基金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474720"/>
            <a:ext cx="237744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3474720"/>
            <a:ext cx="23774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3703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t>激励机制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2062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392B"/>
                </a:solidFill>
              </a:defRPr>
            </a:pPr>
            <a:r>
              <a:t>股权激励计划</a:t>
            </a:r>
            <a:br/>
            <a:r>
              <a:t>绩效奖金制度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FF6B6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0392B"/>
                </a:solidFill>
              </a:defRPr>
            </a:pPr>
            <a:r>
              <a:t>社会责任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0392B"/>
                </a:solidFill>
              </a:defRPr>
            </a:pPr>
            <a:r>
              <a:t>CSR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社会责任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237744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63040" y="1463040"/>
            <a:ext cx="731520" cy="731520"/>
          </a:xfrm>
          <a:prstGeom prst="ellipse">
            <a:avLst/>
          </a:prstGeom>
          <a:solidFill>
            <a:srgbClr val="FF6B6B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53619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</a:defRPr>
            </a:pPr>
            <a:r>
              <a:t>环境保护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392B"/>
                </a:solidFill>
              </a:defRPr>
            </a:pPr>
            <a:r>
              <a:t>碳排放减少 30%</a:t>
            </a:r>
            <a:br/>
            <a:r>
              <a:t>绿色办公全覆盖</a:t>
            </a:r>
            <a:br/>
            <a:r>
              <a:t>使用清洁能源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188720"/>
            <a:ext cx="237744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06240" y="1463040"/>
            <a:ext cx="731520" cy="731520"/>
          </a:xfrm>
          <a:prstGeom prst="ellipse">
            <a:avLst/>
          </a:prstGeom>
          <a:solidFill>
            <a:srgbClr val="FF6B6B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53619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</a:defRPr>
            </a:pPr>
            <a:r>
              <a:t>公益捐赠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92608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392B"/>
                </a:solidFill>
              </a:defRPr>
            </a:pPr>
            <a:r>
              <a:t>年度公益支出 200万</a:t>
            </a:r>
            <a:br/>
            <a:r>
              <a:t>教育助学项目</a:t>
            </a:r>
            <a:br/>
            <a:r>
              <a:t>乡村数字化支持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188720"/>
            <a:ext cx="237744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0" y="1463040"/>
            <a:ext cx="731520" cy="731520"/>
          </a:xfrm>
          <a:prstGeom prst="ellipse">
            <a:avLst/>
          </a:prstGeom>
          <a:solidFill>
            <a:srgbClr val="FF6B6B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153619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</a:defRPr>
            </a:pPr>
            <a:r>
              <a:t>社区参与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2608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392B"/>
                </a:solidFill>
              </a:defRPr>
            </a:pPr>
            <a:r>
              <a:t>员工志愿者 500+人次</a:t>
            </a:r>
            <a:br/>
            <a:r>
              <a:t>社区开放日活动</a:t>
            </a:r>
            <a:br/>
            <a:r>
              <a:t>行业知识分享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FF6B6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0392B"/>
                </a:solidFill>
              </a:defRPr>
            </a:pPr>
            <a:r>
              <a:t>展望未来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0392B"/>
                </a:solidFill>
              </a:defRPr>
            </a:pPr>
            <a:r>
              <a:t>Future Outlook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未来展望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237744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2377440" cy="9144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2026目标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</a:defRPr>
            </a:pPr>
            <a:r>
              <a:t>营收突破 5 亿</a:t>
            </a:r>
            <a:br/>
            <a:r>
              <a:t>客户数量翻倍</a:t>
            </a:r>
            <a:br/>
            <a:r>
              <a:t>海外业务启动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188720"/>
            <a:ext cx="237744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188720"/>
            <a:ext cx="2377440" cy="9144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战略重点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7744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</a:defRPr>
            </a:pPr>
            <a:r>
              <a:t>AI 产品深耕</a:t>
            </a:r>
            <a:br/>
            <a:r>
              <a:t>行业解决方案</a:t>
            </a:r>
            <a:br/>
            <a:r>
              <a:t>生态体系建设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188720"/>
            <a:ext cx="237744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2377440" cy="9144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组织升级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7744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</a:defRPr>
            </a:pPr>
            <a:r>
              <a:t>团队扩至 800 人</a:t>
            </a:r>
            <a:br/>
            <a:r>
              <a:t>全球化布局</a:t>
            </a:r>
            <a:br/>
            <a:r>
              <a:t>组织效能提升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FF6B6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0392B"/>
                </a:solidFill>
              </a:defRPr>
            </a:pPr>
            <a:r>
              <a:t>总结回顾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0392B"/>
                </a:solidFill>
              </a:defRPr>
            </a:pPr>
            <a:r>
              <a:t>Summary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E74C3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F9A9A"/>
                </a:solidFill>
              </a:defRPr>
            </a:pPr>
            <a:r>
              <a:t>感谢每一位的付出与贡献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017520"/>
            <a:ext cx="1828800" cy="25400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F9A9A"/>
                </a:solidFill>
              </a:defRPr>
            </a:pPr>
            <a:r>
              <a:t>携手共进 再创辉煌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